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hyperlink" Target="https://www.nature.com/" TargetMode="Externa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hyperlink" Target="https://zhida.zhihu.com/search?content_id=252063985&amp;content_type=Article&amp;match_order=1&amp;q=%E6%97%A0%E9%99%90%E5%B1%82%E7%9B%B8&amp;zhida_source=entity" TargetMode="External"/><Relationship Id="rId1" Type="http://schemas.openxmlformats.org/officeDocument/2006/relationships/hyperlink" Target="https://zhida.zhihu.com/search?content_id=252063985&amp;content_type=Article&amp;match_order=1&amp;q=%E9%92%99%E9%92%9B%E7%9F%BF%E7%BB%93%E6%9E%84&amp;zhida_source=entity" TargetMode="Externa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zhida.zhihu.com/search?content_id=252263237&amp;content_type=Article&amp;match_order=1&amp;q=%E8%87%AA%E6%8E%BA%E6%9D%82&amp;zhida_source=entity" TargetMode="Externa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zhida.zhihu.com/search?content_id=252572267&amp;content_type=Article&amp;match_order=1&amp;q=%E5%A0%86%E5%8F%A0%E9%94%99%E9%85%8D&amp;zhida_source=entity" TargetMode="External"/><Relationship Id="rId2" Type="http://schemas.openxmlformats.org/officeDocument/2006/relationships/image" Target="../media/image14.jpeg"/><Relationship Id="rId1" Type="http://schemas.openxmlformats.org/officeDocument/2006/relationships/hyperlink" Target="https://zhida.zhihu.com/search?content_id=252572267&amp;content_type=Article&amp;match_order=1&amp;q=%E6%B0%A7%E7%A9%BA%E4%BD%8D&amp;zhida_source=entity" TargetMode="Externa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zhida.zhihu.com/search?content_id=252572267&amp;content_type=Article&amp;match_order=1&amp;q=I4/mmm%E7%9B%B8&amp;zhida_source=entity" TargetMode="External"/><Relationship Id="rId4" Type="http://schemas.openxmlformats.org/officeDocument/2006/relationships/hyperlink" Target="https://zhida.zhihu.com/search?content_id=252572267&amp;content_type=Article&amp;match_order=1&amp;q=Amam%E7%9B%B8&amp;zhida_source=entity" TargetMode="Externa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026160" y="413385"/>
            <a:ext cx="3206115" cy="5723255"/>
          </a:xfrm>
          <a:prstGeom prst="rect">
            <a:avLst/>
          </a:prstGeom>
        </p:spPr>
      </p:pic>
      <p:sp>
        <p:nvSpPr>
          <p:cNvPr id="2" name="文本框 1"/>
          <p:cNvSpPr txBox="1"/>
          <p:nvPr/>
        </p:nvSpPr>
        <p:spPr>
          <a:xfrm>
            <a:off x="5203825" y="325120"/>
            <a:ext cx="5080000" cy="1938020"/>
          </a:xfrm>
          <a:prstGeom prst="rect">
            <a:avLst/>
          </a:prstGeom>
        </p:spPr>
        <p:txBody>
          <a:bodyPr>
            <a:spAutoFit/>
          </a:bodyPr>
          <a:p>
            <a:pPr marL="0" indent="0"/>
            <a:r>
              <a:rPr lang="zh-CN" altLang="en-US" sz="2400" b="0" i="0">
                <a:solidFill>
                  <a:srgbClr val="191B1F"/>
                </a:solidFill>
                <a:latin typeface="-apple-system"/>
                <a:ea typeface="-apple-system"/>
              </a:rPr>
              <a:t>稳定存在的镍氧化合物为</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NiO</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和</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La2N</a:t>
            </a:r>
            <a:r>
              <a:rPr lang="en-US" altLang="zh-CN" sz="1600" b="0" i="0">
                <a:solidFill>
                  <a:srgbClr val="191B1F"/>
                </a:solidFill>
                <a:latin typeface="-apple-system"/>
                <a:ea typeface="-apple-system"/>
              </a:rPr>
              <a:t>iO4</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，这里的</a:t>
            </a:r>
            <a:r>
              <a:rPr lang="en-US" altLang="zh-CN" sz="2400" b="0" i="0">
                <a:solidFill>
                  <a:srgbClr val="191B1F"/>
                </a:solidFill>
                <a:latin typeface="-apple-system"/>
                <a:ea typeface="-apple-system"/>
              </a:rPr>
              <a:t>Ni</a:t>
            </a:r>
            <a:r>
              <a:rPr lang="zh-CN" altLang="en-US" sz="2400" b="0" i="0">
                <a:solidFill>
                  <a:srgbClr val="191B1F"/>
                </a:solidFill>
                <a:latin typeface="-apple-system"/>
                <a:ea typeface="-apple-system"/>
              </a:rPr>
              <a:t>的电子排布为</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d8</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，另一类镍氧化合物为</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NdNiO3</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a:t>
            </a:r>
            <a:r>
              <a:rPr lang="en-US" altLang="zh-CN" sz="2400" b="0" i="0">
                <a:solidFill>
                  <a:srgbClr val="191B1F"/>
                </a:solidFill>
                <a:latin typeface="-apple-system"/>
                <a:ea typeface="-apple-system"/>
              </a:rPr>
              <a:t>Ni</a:t>
            </a:r>
            <a:r>
              <a:rPr lang="zh-CN" altLang="en-US" sz="2400" b="0" i="0">
                <a:solidFill>
                  <a:srgbClr val="191B1F"/>
                </a:solidFill>
                <a:latin typeface="-apple-system"/>
                <a:ea typeface="-apple-system"/>
              </a:rPr>
              <a:t>的电子排布为</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d7</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。因此想要得到</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d9</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的镍氧化物不容易。</a:t>
            </a:r>
            <a:endParaRPr lang="zh-CN" altLang="en-US" sz="2400" b="0" i="0">
              <a:solidFill>
                <a:srgbClr val="191B1F"/>
              </a:solidFill>
              <a:latin typeface="-apple-system"/>
              <a:ea typeface="-apple-system"/>
            </a:endParaRPr>
          </a:p>
        </p:txBody>
      </p:sp>
      <p:sp>
        <p:nvSpPr>
          <p:cNvPr id="3" name="文本框 2"/>
          <p:cNvSpPr txBox="1"/>
          <p:nvPr/>
        </p:nvSpPr>
        <p:spPr>
          <a:xfrm>
            <a:off x="764540" y="6136640"/>
            <a:ext cx="3729355" cy="337185"/>
          </a:xfrm>
          <a:prstGeom prst="rect">
            <a:avLst/>
          </a:prstGeom>
        </p:spPr>
        <p:txBody>
          <a:bodyPr wrap="square">
            <a:spAutoFit/>
          </a:bodyPr>
          <a:p>
            <a:pPr marL="0" indent="0" fontAlgn="base"/>
            <a:r>
              <a:rPr lang="en-US" altLang="zh-CN" sz="1600" b="0" i="1">
                <a:solidFill>
                  <a:srgbClr val="006699"/>
                </a:solidFill>
                <a:latin typeface="-apple-system"/>
                <a:ea typeface="-apple-system"/>
                <a:hlinkClick r:id="rId2"/>
              </a:rPr>
              <a:t>Nature</a:t>
            </a:r>
            <a:r>
              <a:rPr lang="en-US" altLang="zh-CN" sz="1600" b="0" i="1">
                <a:solidFill>
                  <a:srgbClr val="006699"/>
                </a:solidFill>
                <a:latin typeface="-apple-system"/>
                <a:ea typeface="-apple-system"/>
              </a:rPr>
              <a:t> </a:t>
            </a:r>
            <a:r>
              <a:rPr lang="en-US" altLang="zh-CN" sz="1600" b="0" i="0">
                <a:solidFill>
                  <a:srgbClr val="222222"/>
                </a:solidFill>
                <a:latin typeface="-apple-system"/>
                <a:ea typeface="-apple-system"/>
              </a:rPr>
              <a:t>638, 935–940 (2025)</a:t>
            </a:r>
            <a:endParaRPr lang="en-US" altLang="zh-CN" sz="1600" b="0" i="0">
              <a:solidFill>
                <a:srgbClr val="222222"/>
              </a:solidFill>
              <a:latin typeface="-apple-system"/>
              <a:ea typeface="-apple-system"/>
            </a:endParaRPr>
          </a:p>
        </p:txBody>
      </p:sp>
      <p:sp>
        <p:nvSpPr>
          <p:cNvPr id="7" name="文本框 6"/>
          <p:cNvSpPr txBox="1"/>
          <p:nvPr/>
        </p:nvSpPr>
        <p:spPr>
          <a:xfrm>
            <a:off x="5203825" y="2467610"/>
            <a:ext cx="5080000" cy="1938020"/>
          </a:xfrm>
          <a:prstGeom prst="rect">
            <a:avLst/>
          </a:prstGeom>
        </p:spPr>
        <p:txBody>
          <a:bodyPr>
            <a:spAutoFit/>
          </a:bodyPr>
          <a:p>
            <a:pPr marL="0" indent="0"/>
            <a:r>
              <a:rPr lang="zh-CN" altLang="en-US" sz="2400" b="0" i="0">
                <a:solidFill>
                  <a:srgbClr val="191B1F"/>
                </a:solidFill>
                <a:latin typeface="-apple-system"/>
                <a:ea typeface="-apple-system"/>
              </a:rPr>
              <a:t>由于镍基无限层超导是长在衬底上的薄膜，样品体积比较小，并且样品顶部一般会盖上一层</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SrTiO3</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的</a:t>
            </a:r>
            <a:r>
              <a:rPr lang="en-US" altLang="zh-CN" sz="2400" b="0" i="0">
                <a:solidFill>
                  <a:srgbClr val="191B1F"/>
                </a:solidFill>
                <a:latin typeface="-apple-system"/>
                <a:ea typeface="-apple-system"/>
              </a:rPr>
              <a:t>capping layer, </a:t>
            </a:r>
            <a:r>
              <a:rPr lang="zh-CN" altLang="en-US" sz="2400" b="0" i="0">
                <a:solidFill>
                  <a:srgbClr val="191B1F"/>
                </a:solidFill>
                <a:latin typeface="-apple-system"/>
                <a:ea typeface="-apple-system"/>
              </a:rPr>
              <a:t>这使得镍基无限层超导的超导能隙研究比较困难。</a:t>
            </a:r>
            <a:endParaRPr lang="zh-CN" altLang="en-US" sz="2400" b="0" i="0">
              <a:solidFill>
                <a:srgbClr val="191B1F"/>
              </a:solidFill>
              <a:latin typeface="-apple-system"/>
              <a:ea typeface="-apple-system"/>
            </a:endParaRPr>
          </a:p>
        </p:txBody>
      </p:sp>
      <p:pic>
        <p:nvPicPr>
          <p:cNvPr id="8" name="图片 7"/>
          <p:cNvPicPr>
            <a:picLocks noChangeAspect="1"/>
          </p:cNvPicPr>
          <p:nvPr/>
        </p:nvPicPr>
        <p:blipFill>
          <a:blip r:embed="rId3"/>
          <a:stretch>
            <a:fillRect/>
          </a:stretch>
        </p:blipFill>
        <p:spPr>
          <a:xfrm>
            <a:off x="5491480" y="4609465"/>
            <a:ext cx="3991610" cy="1788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179820" y="471805"/>
            <a:ext cx="5359400" cy="3979545"/>
          </a:xfrm>
          <a:prstGeom prst="rect">
            <a:avLst/>
          </a:prstGeom>
        </p:spPr>
        <p:txBody>
          <a:bodyPr>
            <a:noAutofit/>
          </a:bodyPr>
          <a:p>
            <a:pPr marL="0" indent="0"/>
            <a:r>
              <a:rPr lang="zh-CN" altLang="en-US" sz="2400" b="0" i="0">
                <a:solidFill>
                  <a:srgbClr val="191B1F"/>
                </a:solidFill>
                <a:latin typeface="-apple-system"/>
                <a:ea typeface="-apple-system"/>
              </a:rPr>
              <a:t>为了得到</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d9</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的镍氧化物，人们找到了一种新的方法。首先把大约</a:t>
            </a:r>
            <a:r>
              <a:rPr lang="en-US" altLang="zh-CN" sz="2400" b="0" i="0">
                <a:solidFill>
                  <a:srgbClr val="191B1F"/>
                </a:solidFill>
                <a:latin typeface="-apple-system"/>
                <a:ea typeface="-apple-system"/>
              </a:rPr>
              <a:t>10</a:t>
            </a:r>
            <a:r>
              <a:rPr lang="zh-CN" altLang="en-US" sz="2400" b="0" i="0">
                <a:solidFill>
                  <a:srgbClr val="191B1F"/>
                </a:solidFill>
                <a:latin typeface="-apple-system"/>
                <a:ea typeface="-apple-system"/>
              </a:rPr>
              <a:t>纳米厚的</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NdNiO3</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薄膜长在固定取向的衬底上，如图二左边的图，得到</a:t>
            </a:r>
            <a:r>
              <a:rPr lang="zh-CN" altLang="en-US" sz="2400" b="0" i="0">
                <a:solidFill>
                  <a:srgbClr val="09408E"/>
                </a:solidFill>
                <a:latin typeface="-apple-system"/>
                <a:ea typeface="-apple-system"/>
                <a:hlinkClick r:id="rId1"/>
              </a:rPr>
              <a:t>钙钛矿结构</a:t>
            </a:r>
            <a:r>
              <a:rPr lang="zh-CN" altLang="en-US" sz="2400" b="0" i="0">
                <a:solidFill>
                  <a:srgbClr val="191B1F"/>
                </a:solidFill>
                <a:latin typeface="-apple-system"/>
                <a:ea typeface="-apple-system"/>
              </a:rPr>
              <a:t>（</a:t>
            </a:r>
            <a:r>
              <a:rPr lang="en-US" altLang="zh-CN" sz="2400" b="0" i="0">
                <a:solidFill>
                  <a:srgbClr val="191B1F"/>
                </a:solidFill>
                <a:latin typeface="-apple-system"/>
                <a:ea typeface="-apple-system"/>
              </a:rPr>
              <a:t>peroviskite</a:t>
            </a:r>
            <a:r>
              <a:rPr lang="zh-CN" altLang="en-US" sz="2400" b="0" i="0">
                <a:solidFill>
                  <a:srgbClr val="191B1F"/>
                </a:solidFill>
                <a:latin typeface="-apple-system"/>
                <a:ea typeface="-apple-system"/>
              </a:rPr>
              <a:t>）的</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NdNiO3</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。接着，把</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NdNiO3</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薄膜放在</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CaH2</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附近加热，</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CaH2</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会分解释放氢气，氢气与</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NdNiO3</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反应，把氧八面体中顶角的氧原子带走，得到</a:t>
            </a:r>
            <a:r>
              <a:rPr lang="zh-CN" altLang="en-US" sz="2400" b="0" i="0">
                <a:solidFill>
                  <a:srgbClr val="09408E"/>
                </a:solidFill>
                <a:latin typeface="-apple-system"/>
                <a:ea typeface="-apple-system"/>
                <a:hlinkClick r:id="rId2"/>
              </a:rPr>
              <a:t>无限层相</a:t>
            </a:r>
            <a:r>
              <a:rPr lang="zh-CN" altLang="en-US" sz="2400" b="0" i="0">
                <a:solidFill>
                  <a:srgbClr val="191B1F"/>
                </a:solidFill>
                <a:latin typeface="-apple-system"/>
                <a:ea typeface="-apple-system"/>
              </a:rPr>
              <a:t>（</a:t>
            </a:r>
            <a:r>
              <a:rPr lang="en-US" altLang="zh-CN" sz="2400" b="0" i="0">
                <a:solidFill>
                  <a:srgbClr val="191B1F"/>
                </a:solidFill>
                <a:latin typeface="-apple-system"/>
                <a:ea typeface="-apple-system"/>
              </a:rPr>
              <a:t>infinite-layer phase</a:t>
            </a:r>
            <a:r>
              <a:rPr lang="zh-CN" altLang="en-US" sz="2400" b="0" i="0">
                <a:solidFill>
                  <a:srgbClr val="191B1F"/>
                </a:solidFill>
                <a:latin typeface="-apple-system"/>
                <a:ea typeface="-apple-system"/>
              </a:rPr>
              <a:t>）的</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NdNiO2</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a:t>
            </a:r>
            <a:endParaRPr lang="zh-CN" altLang="en-US" sz="2400" b="0" i="0">
              <a:solidFill>
                <a:srgbClr val="191B1F"/>
              </a:solidFill>
              <a:latin typeface="-apple-system"/>
              <a:ea typeface="-apple-system"/>
            </a:endParaRPr>
          </a:p>
        </p:txBody>
      </p:sp>
      <p:sp>
        <p:nvSpPr>
          <p:cNvPr id="5" name="文本框 4"/>
          <p:cNvSpPr txBox="1"/>
          <p:nvPr/>
        </p:nvSpPr>
        <p:spPr>
          <a:xfrm>
            <a:off x="6179820" y="4327843"/>
            <a:ext cx="5080000" cy="2306955"/>
          </a:xfrm>
          <a:prstGeom prst="rect">
            <a:avLst/>
          </a:prstGeom>
        </p:spPr>
        <p:txBody>
          <a:bodyPr>
            <a:spAutoFit/>
          </a:bodyPr>
          <a:p>
            <a:pPr marL="0" indent="0"/>
            <a:r>
              <a:rPr lang="zh-CN" altLang="en-US" sz="2400" b="0" i="0">
                <a:solidFill>
                  <a:srgbClr val="191B1F"/>
                </a:solidFill>
                <a:latin typeface="-apple-system"/>
                <a:ea typeface="-apple-system"/>
              </a:rPr>
              <a:t>进一步，通过把部分</a:t>
            </a:r>
            <a:r>
              <a:rPr lang="en-US" altLang="zh-CN" sz="2400" b="0" i="0">
                <a:solidFill>
                  <a:srgbClr val="191B1F"/>
                </a:solidFill>
                <a:latin typeface="-apple-system"/>
                <a:ea typeface="-apple-system"/>
              </a:rPr>
              <a:t>Nd</a:t>
            </a:r>
            <a:r>
              <a:rPr lang="zh-CN" altLang="en-US" sz="2400" b="0" i="0">
                <a:solidFill>
                  <a:srgbClr val="191B1F"/>
                </a:solidFill>
                <a:latin typeface="-apple-system"/>
                <a:ea typeface="-apple-system"/>
              </a:rPr>
              <a:t>替换成</a:t>
            </a:r>
            <a:r>
              <a:rPr lang="en-US" altLang="zh-CN" sz="2400" b="0" i="0">
                <a:solidFill>
                  <a:srgbClr val="191B1F"/>
                </a:solidFill>
                <a:latin typeface="-apple-system"/>
                <a:ea typeface="-apple-system"/>
              </a:rPr>
              <a:t>Sr</a:t>
            </a:r>
            <a:r>
              <a:rPr lang="zh-CN" altLang="en-US" sz="2400" b="0" i="0">
                <a:solidFill>
                  <a:srgbClr val="191B1F"/>
                </a:solidFill>
                <a:latin typeface="-apple-system"/>
                <a:ea typeface="-apple-system"/>
              </a:rPr>
              <a:t>实现空穴掺杂，并且在</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Nd0.8Sr0.2NiO2</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中观察到</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10K</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左右的超导。进一步的研究在空穴掺杂的</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PrNiO2</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和</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LaNiO2</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无限层相中也观察到了超导。</a:t>
            </a:r>
            <a:endParaRPr lang="zh-CN" altLang="en-US" sz="2400" b="0" i="0">
              <a:solidFill>
                <a:srgbClr val="191B1F"/>
              </a:solidFill>
              <a:latin typeface="-apple-system"/>
              <a:ea typeface="-apple-system"/>
            </a:endParaRPr>
          </a:p>
        </p:txBody>
      </p:sp>
      <p:pic>
        <p:nvPicPr>
          <p:cNvPr id="6" name="图片 5"/>
          <p:cNvPicPr/>
          <p:nvPr/>
        </p:nvPicPr>
        <p:blipFill>
          <a:blip r:embed="rId3"/>
          <a:stretch>
            <a:fillRect/>
          </a:stretch>
        </p:blipFill>
        <p:spPr>
          <a:xfrm>
            <a:off x="274955" y="694690"/>
            <a:ext cx="5904865" cy="2981960"/>
          </a:xfrm>
          <a:prstGeom prst="rect">
            <a:avLst/>
          </a:prstGeom>
        </p:spPr>
      </p:pic>
      <p:sp>
        <p:nvSpPr>
          <p:cNvPr id="7" name="文本框 6"/>
          <p:cNvSpPr txBox="1"/>
          <p:nvPr/>
        </p:nvSpPr>
        <p:spPr>
          <a:xfrm>
            <a:off x="832485" y="3793808"/>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Nature 572, 624 (2019)</a:t>
            </a:r>
            <a:endParaRPr lang="en-US" altLang="zh-CN" sz="1600" b="0" i="0">
              <a:solidFill>
                <a:srgbClr val="9196A1"/>
              </a:solidFill>
              <a:latin typeface="-apple-system"/>
              <a:ea typeface="-apple-system"/>
            </a:endParaRPr>
          </a:p>
        </p:txBody>
      </p:sp>
      <p:pic>
        <p:nvPicPr>
          <p:cNvPr id="8" name="图片 7"/>
          <p:cNvPicPr/>
          <p:nvPr/>
        </p:nvPicPr>
        <p:blipFill>
          <a:blip r:embed="rId4"/>
          <a:stretch>
            <a:fillRect/>
          </a:stretch>
        </p:blipFill>
        <p:spPr>
          <a:xfrm>
            <a:off x="508000" y="4248785"/>
            <a:ext cx="5438775" cy="1710690"/>
          </a:xfrm>
          <a:prstGeom prst="rect">
            <a:avLst/>
          </a:prstGeom>
        </p:spPr>
      </p:pic>
      <p:sp>
        <p:nvSpPr>
          <p:cNvPr id="9" name="文本框 8"/>
          <p:cNvSpPr txBox="1"/>
          <p:nvPr/>
        </p:nvSpPr>
        <p:spPr>
          <a:xfrm>
            <a:off x="866775" y="6076633"/>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Nature 572, 624 (2019)</a:t>
            </a:r>
            <a:endParaRPr lang="en-US" altLang="zh-CN" sz="1600" b="0" i="0">
              <a:solidFill>
                <a:srgbClr val="9196A1"/>
              </a:solidFill>
              <a:latin typeface="-apple-system"/>
              <a:ea typeface="-apple-system"/>
            </a:endParaRPr>
          </a:p>
        </p:txBody>
      </p:sp>
      <p:sp>
        <p:nvSpPr>
          <p:cNvPr id="10" name="文本框 9"/>
          <p:cNvSpPr txBox="1"/>
          <p:nvPr/>
        </p:nvSpPr>
        <p:spPr>
          <a:xfrm>
            <a:off x="322580" y="182245"/>
            <a:ext cx="3617595" cy="512445"/>
          </a:xfrm>
          <a:prstGeom prst="rect">
            <a:avLst/>
          </a:prstGeom>
          <a:noFill/>
        </p:spPr>
        <p:txBody>
          <a:bodyPr wrap="square" rtlCol="0">
            <a:noAutofit/>
          </a:bodyPr>
          <a:p>
            <a:r>
              <a:rPr lang="zh-CN" altLang="en-US" sz="2800" b="1"/>
              <a:t>无限层</a:t>
            </a:r>
            <a:r>
              <a:rPr lang="en-US" altLang="zh-CN" sz="2800" b="1"/>
              <a:t>Nikelates</a:t>
            </a:r>
            <a:endParaRPr lang="en-US" altLang="zh-CN" sz="2800" b="1"/>
          </a:p>
        </p:txBody>
      </p:sp>
      <p:sp>
        <p:nvSpPr>
          <p:cNvPr id="11" name="文本框 10"/>
          <p:cNvSpPr txBox="1"/>
          <p:nvPr/>
        </p:nvSpPr>
        <p:spPr>
          <a:xfrm>
            <a:off x="3183255" y="208915"/>
            <a:ext cx="5233670" cy="368300"/>
          </a:xfrm>
          <a:prstGeom prst="rect">
            <a:avLst/>
          </a:prstGeom>
          <a:noFill/>
        </p:spPr>
        <p:txBody>
          <a:bodyPr wrap="square" rtlCol="0">
            <a:spAutoFit/>
          </a:bodyPr>
          <a:p>
            <a:r>
              <a:rPr lang="en-US" altLang="zh-CN"/>
              <a:t>ANiO2:A=Nd,Pr,La  Sr</a:t>
            </a:r>
            <a:r>
              <a:rPr lang="zh-CN" altLang="en-US"/>
              <a:t>空穴</a:t>
            </a:r>
            <a:r>
              <a:rPr lang="zh-CN" altLang="en-US"/>
              <a:t>掺杂</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1600" y="129540"/>
            <a:ext cx="6918325" cy="645160"/>
          </a:xfrm>
          <a:prstGeom prst="rect">
            <a:avLst/>
          </a:prstGeom>
        </p:spPr>
        <p:txBody>
          <a:bodyPr wrap="square">
            <a:spAutoFit/>
          </a:bodyPr>
          <a:p>
            <a:pPr marL="0" indent="0">
              <a:spcBef>
                <a:spcPts val="1800"/>
              </a:spcBef>
              <a:spcAft>
                <a:spcPts val="1800"/>
              </a:spcAft>
            </a:pPr>
            <a:r>
              <a:rPr lang="zh-CN" altLang="en-US" sz="3600" b="1" i="0">
                <a:solidFill>
                  <a:srgbClr val="191B1F"/>
                </a:solidFill>
                <a:latin typeface="-apple-system"/>
                <a:ea typeface="-apple-system"/>
              </a:rPr>
              <a:t>无限层镍基超导的电子结构</a:t>
            </a:r>
            <a:endParaRPr lang="zh-CN" altLang="en-US" sz="3600" b="1" i="0">
              <a:solidFill>
                <a:srgbClr val="191B1F"/>
              </a:solidFill>
              <a:latin typeface="-apple-system"/>
              <a:ea typeface="-apple-system"/>
            </a:endParaRPr>
          </a:p>
        </p:txBody>
      </p:sp>
      <p:pic>
        <p:nvPicPr>
          <p:cNvPr id="5" name="图片 4"/>
          <p:cNvPicPr/>
          <p:nvPr/>
        </p:nvPicPr>
        <p:blipFill>
          <a:blip r:embed="rId1"/>
          <a:stretch>
            <a:fillRect/>
          </a:stretch>
        </p:blipFill>
        <p:spPr>
          <a:xfrm>
            <a:off x="309880" y="774700"/>
            <a:ext cx="8036560" cy="3087370"/>
          </a:xfrm>
          <a:prstGeom prst="rect">
            <a:avLst/>
          </a:prstGeom>
        </p:spPr>
      </p:pic>
      <p:sp>
        <p:nvSpPr>
          <p:cNvPr id="6" name="文本框 5"/>
          <p:cNvSpPr txBox="1"/>
          <p:nvPr/>
        </p:nvSpPr>
        <p:spPr>
          <a:xfrm>
            <a:off x="489585" y="4364355"/>
            <a:ext cx="4964430" cy="1638935"/>
          </a:xfrm>
          <a:prstGeom prst="rect">
            <a:avLst/>
          </a:prstGeom>
          <a:noFill/>
        </p:spPr>
        <p:txBody>
          <a:bodyPr wrap="square" rtlCol="0">
            <a:noAutofit/>
          </a:bodyPr>
          <a:p>
            <a:r>
              <a:rPr lang="zh-CN" altLang="en-US"/>
              <a:t>费米</a:t>
            </a:r>
            <a:r>
              <a:rPr lang="zh-CN" altLang="en-US"/>
              <a:t>口袋</a:t>
            </a:r>
            <a:endParaRPr lang="zh-CN" altLang="en-US"/>
          </a:p>
          <a:p>
            <a:r>
              <a:rPr lang="en-US" altLang="zh-CN"/>
              <a:t>1.Γ</a:t>
            </a:r>
            <a:r>
              <a:rPr lang="zh-CN" altLang="en-US"/>
              <a:t>点：</a:t>
            </a:r>
            <a:r>
              <a:rPr lang="zh-CN" altLang="en-US">
                <a:solidFill>
                  <a:srgbClr val="191B1F"/>
                </a:solidFill>
                <a:latin typeface="-apple-system"/>
                <a:ea typeface="-apple-system"/>
                <a:sym typeface="+mn-ea"/>
              </a:rPr>
              <a:t>稀土金属</a:t>
            </a:r>
            <a:r>
              <a:rPr lang="en-US" altLang="zh-CN">
                <a:solidFill>
                  <a:srgbClr val="191B1F"/>
                </a:solidFill>
                <a:latin typeface="-apple-system"/>
                <a:ea typeface="-apple-system"/>
                <a:sym typeface="+mn-ea"/>
              </a:rPr>
              <a:t> 5dz2 </a:t>
            </a:r>
            <a:r>
              <a:rPr lang="zh-CN" altLang="en-US">
                <a:solidFill>
                  <a:srgbClr val="191B1F"/>
                </a:solidFill>
                <a:latin typeface="-apple-system"/>
                <a:ea typeface="-apple-system"/>
                <a:sym typeface="+mn-ea"/>
              </a:rPr>
              <a:t>和镍</a:t>
            </a:r>
            <a:r>
              <a:rPr lang="en-US" altLang="zh-CN">
                <a:solidFill>
                  <a:srgbClr val="191B1F"/>
                </a:solidFill>
                <a:latin typeface="-apple-system"/>
                <a:ea typeface="-apple-system"/>
                <a:sym typeface="+mn-ea"/>
              </a:rPr>
              <a:t> 3dz2 </a:t>
            </a:r>
            <a:r>
              <a:rPr lang="zh-CN" altLang="en-US">
                <a:solidFill>
                  <a:srgbClr val="191B1F"/>
                </a:solidFill>
                <a:latin typeface="-apple-system"/>
                <a:ea typeface="-apple-system"/>
                <a:sym typeface="+mn-ea"/>
              </a:rPr>
              <a:t>杂化而成（</a:t>
            </a:r>
            <a:r>
              <a:rPr lang="en-US" altLang="zh-CN">
                <a:solidFill>
                  <a:srgbClr val="191B1F"/>
                </a:solidFill>
                <a:latin typeface="-apple-system"/>
                <a:ea typeface="-apple-system"/>
                <a:sym typeface="+mn-ea"/>
              </a:rPr>
              <a:t>ARPES</a:t>
            </a:r>
            <a:r>
              <a:rPr lang="zh-CN" altLang="en-US">
                <a:solidFill>
                  <a:srgbClr val="191B1F"/>
                </a:solidFill>
                <a:latin typeface="-apple-system"/>
                <a:ea typeface="-apple-system"/>
                <a:sym typeface="+mn-ea"/>
              </a:rPr>
              <a:t>未看到）</a:t>
            </a:r>
            <a:endParaRPr lang="zh-CN" altLang="en-US">
              <a:solidFill>
                <a:srgbClr val="191B1F"/>
              </a:solidFill>
              <a:latin typeface="-apple-system"/>
              <a:ea typeface="-apple-system"/>
              <a:sym typeface="+mn-ea"/>
            </a:endParaRPr>
          </a:p>
          <a:p>
            <a:r>
              <a:rPr lang="en-US" altLang="zh-CN"/>
              <a:t>2.M</a:t>
            </a:r>
            <a:r>
              <a:rPr lang="zh-CN" altLang="en-US"/>
              <a:t>点：</a:t>
            </a:r>
            <a:r>
              <a:rPr lang="en-US" altLang="zh-CN">
                <a:solidFill>
                  <a:srgbClr val="191B1F"/>
                </a:solidFill>
                <a:latin typeface="-apple-system"/>
                <a:ea typeface="-apple-system"/>
                <a:sym typeface="+mn-ea"/>
              </a:rPr>
              <a:t>Ni</a:t>
            </a:r>
            <a:r>
              <a:rPr lang="zh-CN" altLang="en-US">
                <a:solidFill>
                  <a:srgbClr val="191B1F"/>
                </a:solidFill>
                <a:latin typeface="-apple-system"/>
                <a:ea typeface="-apple-system"/>
                <a:sym typeface="+mn-ea"/>
              </a:rPr>
              <a:t>的</a:t>
            </a:r>
            <a:r>
              <a:rPr lang="en-US" altLang="zh-CN">
                <a:solidFill>
                  <a:srgbClr val="191B1F"/>
                </a:solidFill>
                <a:latin typeface="-apple-system"/>
                <a:ea typeface="-apple-system"/>
                <a:sym typeface="+mn-ea"/>
              </a:rPr>
              <a:t> </a:t>
            </a:r>
            <a:r>
              <a:rPr lang="en-US" altLang="zh-CN">
                <a:solidFill>
                  <a:srgbClr val="191B1F"/>
                </a:solidFill>
                <a:latin typeface="-apple-system"/>
                <a:ea typeface="-apple-system"/>
                <a:sym typeface="+mn-ea"/>
              </a:rPr>
              <a:t>3dx2−y2 </a:t>
            </a:r>
            <a:r>
              <a:rPr lang="zh-CN" altLang="en-US">
                <a:solidFill>
                  <a:srgbClr val="191B1F"/>
                </a:solidFill>
                <a:latin typeface="-apple-system"/>
                <a:ea typeface="-apple-system"/>
                <a:sym typeface="+mn-ea"/>
              </a:rPr>
              <a:t>轨道</a:t>
            </a:r>
            <a:endParaRPr lang="zh-CN" altLang="en-US">
              <a:solidFill>
                <a:srgbClr val="191B1F"/>
              </a:solidFill>
              <a:latin typeface="-apple-system"/>
              <a:ea typeface="-apple-system"/>
              <a:sym typeface="+mn-ea"/>
            </a:endParaRPr>
          </a:p>
          <a:p>
            <a:r>
              <a:rPr lang="en-US" altLang="zh-CN">
                <a:solidFill>
                  <a:srgbClr val="191B1F"/>
                </a:solidFill>
                <a:latin typeface="-apple-system"/>
                <a:ea typeface="-apple-system"/>
                <a:sym typeface="+mn-ea"/>
              </a:rPr>
              <a:t>3.A</a:t>
            </a:r>
            <a:r>
              <a:rPr lang="zh-CN" altLang="en-US">
                <a:solidFill>
                  <a:srgbClr val="191B1F"/>
                </a:solidFill>
                <a:latin typeface="-apple-system"/>
                <a:ea typeface="-apple-system"/>
                <a:sym typeface="+mn-ea"/>
              </a:rPr>
              <a:t>点：稀土金属的</a:t>
            </a:r>
            <a:r>
              <a:rPr lang="en-US" altLang="zh-CN">
                <a:solidFill>
                  <a:srgbClr val="191B1F"/>
                </a:solidFill>
                <a:latin typeface="-apple-system"/>
                <a:ea typeface="-apple-system"/>
                <a:sym typeface="+mn-ea"/>
              </a:rPr>
              <a:t> </a:t>
            </a:r>
            <a:r>
              <a:rPr lang="en-US" altLang="zh-CN">
                <a:solidFill>
                  <a:srgbClr val="191B1F"/>
                </a:solidFill>
                <a:latin typeface="-apple-system"/>
                <a:ea typeface="-apple-system"/>
                <a:sym typeface="+mn-ea"/>
              </a:rPr>
              <a:t>5dxy </a:t>
            </a:r>
            <a:r>
              <a:rPr lang="zh-CN" altLang="en-US">
                <a:solidFill>
                  <a:srgbClr val="191B1F"/>
                </a:solidFill>
                <a:latin typeface="-apple-system"/>
                <a:ea typeface="-apple-system"/>
                <a:sym typeface="+mn-ea"/>
              </a:rPr>
              <a:t>轨道或者间隙的</a:t>
            </a:r>
            <a:r>
              <a:rPr lang="en-US" altLang="zh-CN">
                <a:solidFill>
                  <a:srgbClr val="191B1F"/>
                </a:solidFill>
                <a:latin typeface="-apple-system"/>
                <a:ea typeface="-apple-system"/>
                <a:sym typeface="+mn-ea"/>
              </a:rPr>
              <a:t> </a:t>
            </a:r>
            <a:r>
              <a:rPr lang="en-US" altLang="zh-CN">
                <a:solidFill>
                  <a:srgbClr val="191B1F"/>
                </a:solidFill>
                <a:latin typeface="-apple-system"/>
                <a:ea typeface="-apple-system"/>
                <a:sym typeface="+mn-ea"/>
              </a:rPr>
              <a:t>s </a:t>
            </a:r>
            <a:r>
              <a:rPr lang="zh-CN" altLang="en-US">
                <a:solidFill>
                  <a:srgbClr val="191B1F"/>
                </a:solidFill>
                <a:latin typeface="-apple-system"/>
                <a:ea typeface="-apple-system"/>
                <a:sym typeface="+mn-ea"/>
              </a:rPr>
              <a:t>轨道</a:t>
            </a:r>
            <a:endParaRPr lang="zh-CN" altLang="en-US" b="0" i="0">
              <a:solidFill>
                <a:srgbClr val="191B1F"/>
              </a:solidFill>
              <a:latin typeface="-apple-system"/>
              <a:ea typeface="-apple-system"/>
            </a:endParaRPr>
          </a:p>
          <a:p>
            <a:endParaRPr lang="zh-CN" altLang="en-US"/>
          </a:p>
        </p:txBody>
      </p:sp>
      <p:sp>
        <p:nvSpPr>
          <p:cNvPr id="7" name="文本框 6"/>
          <p:cNvSpPr txBox="1"/>
          <p:nvPr/>
        </p:nvSpPr>
        <p:spPr>
          <a:xfrm>
            <a:off x="1021080" y="3812223"/>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NdNiO2</a:t>
            </a:r>
            <a:r>
              <a:rPr lang="zh-CN" altLang="en-US" sz="1600" b="0" i="0">
                <a:solidFill>
                  <a:srgbClr val="9196A1"/>
                </a:solidFill>
                <a:latin typeface="-apple-system"/>
                <a:ea typeface="-apple-system"/>
              </a:rPr>
              <a:t>的</a:t>
            </a:r>
            <a:r>
              <a:rPr lang="en-US" altLang="zh-CN" sz="1600" b="0" i="0">
                <a:solidFill>
                  <a:srgbClr val="9196A1"/>
                </a:solidFill>
                <a:latin typeface="-apple-system"/>
                <a:ea typeface="-apple-system"/>
              </a:rPr>
              <a:t>DFT</a:t>
            </a:r>
            <a:endParaRPr lang="en-US" altLang="zh-CN" sz="1600" b="0" i="0">
              <a:solidFill>
                <a:srgbClr val="9196A1"/>
              </a:solidFill>
              <a:latin typeface="-apple-system"/>
              <a:ea typeface="-apple-system"/>
            </a:endParaRPr>
          </a:p>
        </p:txBody>
      </p:sp>
      <p:sp>
        <p:nvSpPr>
          <p:cNvPr id="11" name="文本框 10"/>
          <p:cNvSpPr txBox="1"/>
          <p:nvPr/>
        </p:nvSpPr>
        <p:spPr>
          <a:xfrm>
            <a:off x="5774055" y="3862070"/>
            <a:ext cx="5080000" cy="2676525"/>
          </a:xfrm>
          <a:prstGeom prst="rect">
            <a:avLst/>
          </a:prstGeom>
        </p:spPr>
        <p:txBody>
          <a:bodyPr>
            <a:spAutoFit/>
          </a:bodyPr>
          <a:p>
            <a:pPr marL="0" indent="0"/>
            <a:r>
              <a:rPr lang="zh-CN" altLang="en-US" sz="2400">
                <a:solidFill>
                  <a:srgbClr val="191B1F"/>
                </a:solidFill>
                <a:latin typeface="-apple-system"/>
                <a:ea typeface="-apple-system"/>
                <a:sym typeface="+mn-ea"/>
              </a:rPr>
              <a:t>在母体</a:t>
            </a:r>
            <a:r>
              <a:rPr lang="en-US" altLang="zh-CN" sz="2400">
                <a:solidFill>
                  <a:srgbClr val="191B1F"/>
                </a:solidFill>
                <a:latin typeface="-apple-system"/>
                <a:ea typeface="-apple-system"/>
                <a:sym typeface="+mn-ea"/>
              </a:rPr>
              <a:t> </a:t>
            </a:r>
            <a:r>
              <a:rPr lang="en-US" altLang="zh-CN" sz="2400">
                <a:solidFill>
                  <a:srgbClr val="191B1F"/>
                </a:solidFill>
                <a:latin typeface="-apple-system"/>
                <a:ea typeface="-apple-system"/>
                <a:sym typeface="+mn-ea"/>
              </a:rPr>
              <a:t>NdNiO2 </a:t>
            </a:r>
            <a:r>
              <a:rPr lang="zh-CN" altLang="en-US" sz="2400">
                <a:solidFill>
                  <a:srgbClr val="191B1F"/>
                </a:solidFill>
                <a:latin typeface="-apple-system"/>
                <a:ea typeface="-apple-system"/>
                <a:sym typeface="+mn-ea"/>
              </a:rPr>
              <a:t>中，</a:t>
            </a:r>
            <a:r>
              <a:rPr lang="en-US" altLang="zh-CN" sz="2400">
                <a:solidFill>
                  <a:srgbClr val="191B1F"/>
                </a:solidFill>
                <a:latin typeface="-apple-system"/>
                <a:ea typeface="-apple-system"/>
                <a:sym typeface="+mn-ea"/>
              </a:rPr>
              <a:t>Ni</a:t>
            </a:r>
            <a:r>
              <a:rPr lang="zh-CN" altLang="en-US" sz="2400">
                <a:solidFill>
                  <a:srgbClr val="191B1F"/>
                </a:solidFill>
                <a:latin typeface="-apple-system"/>
                <a:ea typeface="-apple-system"/>
                <a:sym typeface="+mn-ea"/>
              </a:rPr>
              <a:t>的</a:t>
            </a:r>
            <a:r>
              <a:rPr lang="en-US" altLang="zh-CN" sz="2400">
                <a:solidFill>
                  <a:srgbClr val="191B1F"/>
                </a:solidFill>
                <a:latin typeface="-apple-system"/>
                <a:ea typeface="-apple-system"/>
                <a:sym typeface="+mn-ea"/>
              </a:rPr>
              <a:t> </a:t>
            </a:r>
            <a:r>
              <a:rPr lang="en-US" altLang="zh-CN" sz="2400">
                <a:solidFill>
                  <a:srgbClr val="191B1F"/>
                </a:solidFill>
                <a:latin typeface="-apple-system"/>
                <a:ea typeface="-apple-system"/>
                <a:sym typeface="+mn-ea"/>
              </a:rPr>
              <a:t>3dx2−y2 </a:t>
            </a:r>
            <a:r>
              <a:rPr lang="zh-CN" altLang="en-US" sz="2400">
                <a:solidFill>
                  <a:srgbClr val="191B1F"/>
                </a:solidFill>
                <a:latin typeface="-apple-system"/>
                <a:ea typeface="-apple-system"/>
                <a:sym typeface="+mn-ea"/>
              </a:rPr>
              <a:t>能带存在大约为</a:t>
            </a:r>
            <a:r>
              <a:rPr lang="en-US" altLang="zh-CN" sz="2400">
                <a:solidFill>
                  <a:srgbClr val="191B1F"/>
                </a:solidFill>
                <a:latin typeface="-apple-system"/>
                <a:ea typeface="-apple-system"/>
                <a:sym typeface="+mn-ea"/>
              </a:rPr>
              <a:t>10%</a:t>
            </a:r>
            <a:r>
              <a:rPr lang="zh-CN" altLang="en-US" sz="2400">
                <a:solidFill>
                  <a:srgbClr val="191B1F"/>
                </a:solidFill>
                <a:latin typeface="-apple-system"/>
                <a:ea typeface="-apple-system"/>
                <a:sym typeface="+mn-ea"/>
              </a:rPr>
              <a:t>的空穴掺杂。这种效应称为“</a:t>
            </a:r>
            <a:r>
              <a:rPr lang="zh-CN" altLang="en-US" sz="2400">
                <a:solidFill>
                  <a:srgbClr val="09408E"/>
                </a:solidFill>
                <a:latin typeface="-apple-system"/>
                <a:ea typeface="-apple-system"/>
                <a:sym typeface="+mn-ea"/>
                <a:hlinkClick r:id="rId2"/>
              </a:rPr>
              <a:t>自掺杂</a:t>
            </a:r>
            <a:r>
              <a:rPr lang="zh-CN" altLang="en-US" sz="2400">
                <a:solidFill>
                  <a:srgbClr val="191B1F"/>
                </a:solidFill>
                <a:latin typeface="-apple-system"/>
                <a:ea typeface="-apple-system"/>
                <a:sym typeface="+mn-ea"/>
              </a:rPr>
              <a:t>”（</a:t>
            </a:r>
            <a:r>
              <a:rPr lang="en-US" altLang="zh-CN" sz="2400">
                <a:solidFill>
                  <a:srgbClr val="191B1F"/>
                </a:solidFill>
                <a:latin typeface="-apple-system"/>
                <a:ea typeface="-apple-system"/>
                <a:sym typeface="+mn-ea"/>
              </a:rPr>
              <a:t>self-doping</a:t>
            </a:r>
            <a:r>
              <a:rPr lang="zh-CN" altLang="en-US" sz="2400">
                <a:solidFill>
                  <a:srgbClr val="191B1F"/>
                </a:solidFill>
                <a:latin typeface="-apple-system"/>
                <a:ea typeface="-apple-system"/>
                <a:sym typeface="+mn-ea"/>
              </a:rPr>
              <a:t>）。</a:t>
            </a:r>
            <a:endParaRPr lang="zh-CN" altLang="en-US" sz="2400" b="0" i="0">
              <a:solidFill>
                <a:srgbClr val="191B1F"/>
              </a:solidFill>
              <a:latin typeface="-apple-system"/>
              <a:ea typeface="-apple-system"/>
            </a:endParaRPr>
          </a:p>
          <a:p>
            <a:pPr marL="0" indent="0"/>
            <a:r>
              <a:rPr lang="zh-CN" altLang="en-US" sz="2400" b="0" i="0">
                <a:solidFill>
                  <a:srgbClr val="191B1F"/>
                </a:solidFill>
                <a:latin typeface="-apple-system"/>
                <a:ea typeface="-apple-system"/>
              </a:rPr>
              <a:t>由于与</a:t>
            </a:r>
            <a:r>
              <a:rPr lang="en-US" altLang="zh-CN" sz="2400" b="0" i="0">
                <a:solidFill>
                  <a:srgbClr val="191B1F"/>
                </a:solidFill>
                <a:latin typeface="-apple-system"/>
                <a:ea typeface="-apple-system"/>
              </a:rPr>
              <a:t>Nd</a:t>
            </a:r>
            <a:r>
              <a:rPr lang="zh-CN" altLang="en-US" sz="2400" b="0" i="0">
                <a:solidFill>
                  <a:srgbClr val="191B1F"/>
                </a:solidFill>
                <a:latin typeface="-apple-system"/>
                <a:ea typeface="-apple-system"/>
              </a:rPr>
              <a:t>原子轨道相关的能带也穿过费米面，</a:t>
            </a:r>
            <a:r>
              <a:rPr lang="en-US" altLang="zh-CN" sz="2400" b="0" i="0">
                <a:solidFill>
                  <a:srgbClr val="191B1F"/>
                </a:solidFill>
                <a:latin typeface="-apple-system"/>
                <a:ea typeface="-apple-system"/>
              </a:rPr>
              <a:t>Ni</a:t>
            </a:r>
            <a:r>
              <a:rPr lang="zh-CN" altLang="en-US" sz="2400" b="0" i="0">
                <a:solidFill>
                  <a:srgbClr val="191B1F"/>
                </a:solidFill>
                <a:latin typeface="-apple-system"/>
                <a:ea typeface="-apple-system"/>
              </a:rPr>
              <a:t>的</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3dx2−y2</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所对应的能带实际上并不是半满填充。</a:t>
            </a:r>
            <a:endParaRPr lang="zh-CN" altLang="en-US" sz="2400" b="0" i="0">
              <a:solidFill>
                <a:srgbClr val="191B1F"/>
              </a:solidFill>
              <a:latin typeface="-apple-system"/>
              <a:ea typeface="-apple-system"/>
            </a:endParaRPr>
          </a:p>
        </p:txBody>
      </p:sp>
      <p:sp>
        <p:nvSpPr>
          <p:cNvPr id="13" name="文本框 12"/>
          <p:cNvSpPr txBox="1"/>
          <p:nvPr/>
        </p:nvSpPr>
        <p:spPr>
          <a:xfrm>
            <a:off x="489585" y="6002973"/>
            <a:ext cx="5080000" cy="337185"/>
          </a:xfrm>
          <a:prstGeom prst="rect">
            <a:avLst/>
          </a:prstGeom>
        </p:spPr>
        <p:txBody>
          <a:bodyPr>
            <a:spAutoFit/>
          </a:bodyPr>
          <a:p>
            <a:pPr marL="0" indent="0"/>
            <a:r>
              <a:rPr lang="en-US" altLang="zh-CN" sz="1600" b="0" i="0">
                <a:solidFill>
                  <a:srgbClr val="191B1F"/>
                </a:solidFill>
                <a:latin typeface="-apple-system"/>
                <a:ea typeface="-apple-system"/>
              </a:rPr>
              <a:t>arXiv:2403.07344, 2024; NSR, 11, 8, 2024</a:t>
            </a:r>
            <a:endParaRPr lang="en-US" altLang="zh-CN" sz="1600" b="0" i="0">
              <a:solidFill>
                <a:srgbClr val="191B1F"/>
              </a:solidFill>
              <a:latin typeface="-apple-system"/>
              <a:ea typeface="-apple-syste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1600" y="129540"/>
            <a:ext cx="6918325" cy="645160"/>
          </a:xfrm>
          <a:prstGeom prst="rect">
            <a:avLst/>
          </a:prstGeom>
        </p:spPr>
        <p:txBody>
          <a:bodyPr wrap="square">
            <a:spAutoFit/>
          </a:bodyPr>
          <a:p>
            <a:pPr marL="0" indent="0">
              <a:spcBef>
                <a:spcPts val="1800"/>
              </a:spcBef>
              <a:spcAft>
                <a:spcPts val="1800"/>
              </a:spcAft>
            </a:pPr>
            <a:r>
              <a:rPr lang="zh-CN" altLang="en-US" sz="3600" b="1" i="0">
                <a:solidFill>
                  <a:srgbClr val="191B1F"/>
                </a:solidFill>
                <a:latin typeface="-apple-system"/>
                <a:ea typeface="-apple-system"/>
              </a:rPr>
              <a:t>有限层</a:t>
            </a:r>
            <a:endParaRPr lang="zh-CN" altLang="en-US" sz="3600" b="1" i="0">
              <a:solidFill>
                <a:srgbClr val="191B1F"/>
              </a:solidFill>
              <a:latin typeface="-apple-system"/>
              <a:ea typeface="-apple-system"/>
            </a:endParaRPr>
          </a:p>
        </p:txBody>
      </p:sp>
      <p:sp>
        <p:nvSpPr>
          <p:cNvPr id="5" name="文本框 4"/>
          <p:cNvSpPr txBox="1"/>
          <p:nvPr/>
        </p:nvSpPr>
        <p:spPr>
          <a:xfrm>
            <a:off x="1817370" y="190818"/>
            <a:ext cx="5080000" cy="583565"/>
          </a:xfrm>
          <a:prstGeom prst="rect">
            <a:avLst/>
          </a:prstGeom>
        </p:spPr>
        <p:txBody>
          <a:bodyPr>
            <a:spAutoFit/>
          </a:bodyPr>
          <a:p>
            <a:pPr marL="0" indent="0"/>
            <a:r>
              <a:rPr lang="en-US" altLang="zh-CN" sz="1600" b="0" i="0">
                <a:solidFill>
                  <a:srgbClr val="191B1F"/>
                </a:solidFill>
                <a:latin typeface="-apple-system"/>
                <a:ea typeface="-apple-system"/>
              </a:rPr>
              <a:t>Ruddlesden-Popper</a:t>
            </a:r>
            <a:r>
              <a:rPr lang="zh-CN" altLang="en-US" sz="1600" b="0" i="0">
                <a:solidFill>
                  <a:srgbClr val="191B1F"/>
                </a:solidFill>
                <a:latin typeface="-apple-system"/>
                <a:ea typeface="-apple-system"/>
              </a:rPr>
              <a:t>（</a:t>
            </a:r>
            <a:r>
              <a:rPr lang="en-US" altLang="zh-CN" sz="1600" b="0" i="0">
                <a:solidFill>
                  <a:srgbClr val="191B1F"/>
                </a:solidFill>
                <a:latin typeface="-apple-system"/>
                <a:ea typeface="-apple-system"/>
              </a:rPr>
              <a:t>RP</a:t>
            </a:r>
            <a:r>
              <a:rPr lang="zh-CN" altLang="en-US" sz="1600" b="0" i="0">
                <a:solidFill>
                  <a:srgbClr val="191B1F"/>
                </a:solidFill>
                <a:latin typeface="-apple-system"/>
                <a:ea typeface="-apple-system"/>
              </a:rPr>
              <a:t>）相</a:t>
            </a:r>
            <a:endParaRPr lang="zh-CN" altLang="en-US" sz="1600" b="0" i="0">
              <a:solidFill>
                <a:srgbClr val="191B1F"/>
              </a:solidFill>
              <a:latin typeface="-apple-system"/>
              <a:ea typeface="-apple-system"/>
            </a:endParaRPr>
          </a:p>
          <a:p>
            <a:pPr marL="0" indent="0"/>
            <a:r>
              <a:rPr lang="en-US" altLang="zh-CN" sz="1600">
                <a:solidFill>
                  <a:srgbClr val="191B1F"/>
                </a:solidFill>
                <a:latin typeface="-apple-system"/>
                <a:ea typeface="-apple-system"/>
                <a:sym typeface="+mn-ea"/>
              </a:rPr>
              <a:t>An+1BnO3n+1(n=1,2,3) </a:t>
            </a:r>
            <a:endParaRPr lang="zh-CN" altLang="en-US" sz="1600" b="0" i="0">
              <a:solidFill>
                <a:srgbClr val="191B1F"/>
              </a:solidFill>
              <a:latin typeface="-apple-system"/>
              <a:ea typeface="-apple-system"/>
            </a:endParaRPr>
          </a:p>
        </p:txBody>
      </p:sp>
      <p:pic>
        <p:nvPicPr>
          <p:cNvPr id="7" name="图片 6"/>
          <p:cNvPicPr/>
          <p:nvPr/>
        </p:nvPicPr>
        <p:blipFill>
          <a:blip r:embed="rId1"/>
          <a:stretch>
            <a:fillRect/>
          </a:stretch>
        </p:blipFill>
        <p:spPr>
          <a:xfrm>
            <a:off x="475615" y="774700"/>
            <a:ext cx="6348730" cy="4797425"/>
          </a:xfrm>
          <a:prstGeom prst="rect">
            <a:avLst/>
          </a:prstGeom>
        </p:spPr>
      </p:pic>
      <p:sp>
        <p:nvSpPr>
          <p:cNvPr id="8" name="文本框 7"/>
          <p:cNvSpPr txBox="1"/>
          <p:nvPr/>
        </p:nvSpPr>
        <p:spPr>
          <a:xfrm>
            <a:off x="475615" y="5817870"/>
            <a:ext cx="5269230" cy="460375"/>
          </a:xfrm>
          <a:prstGeom prst="rect">
            <a:avLst/>
          </a:prstGeom>
        </p:spPr>
        <p:txBody>
          <a:bodyPr wrap="square">
            <a:spAutoFit/>
          </a:bodyPr>
          <a:p>
            <a:pPr marL="0" indent="0"/>
            <a:r>
              <a:rPr lang="en-US" altLang="zh-CN" sz="2400" b="0" i="0">
                <a:solidFill>
                  <a:srgbClr val="191B1F"/>
                </a:solidFill>
                <a:latin typeface="-apple-system"/>
                <a:ea typeface="-apple-system"/>
              </a:rPr>
              <a:t> La327</a:t>
            </a:r>
            <a:r>
              <a:rPr lang="zh-CN" altLang="en-US" sz="2400" b="0" i="0">
                <a:solidFill>
                  <a:srgbClr val="191B1F"/>
                </a:solidFill>
                <a:latin typeface="-apple-system"/>
                <a:ea typeface="-apple-system"/>
              </a:rPr>
              <a:t>中</a:t>
            </a:r>
            <a:r>
              <a:rPr lang="en-US" altLang="zh-CN" sz="2400" b="0" i="0">
                <a:solidFill>
                  <a:srgbClr val="191B1F"/>
                </a:solidFill>
                <a:latin typeface="-apple-system"/>
                <a:ea typeface="-apple-system"/>
              </a:rPr>
              <a:t>Ni</a:t>
            </a:r>
            <a:r>
              <a:rPr lang="zh-CN" altLang="en-US" sz="2400" b="0" i="0">
                <a:solidFill>
                  <a:srgbClr val="191B1F"/>
                </a:solidFill>
                <a:latin typeface="-apple-system"/>
                <a:ea typeface="-apple-system"/>
              </a:rPr>
              <a:t>的电子排布在</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d7.5</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附近</a:t>
            </a:r>
            <a:endParaRPr lang="zh-CN" altLang="en-US" sz="2400" b="0" i="0">
              <a:solidFill>
                <a:srgbClr val="191B1F"/>
              </a:solidFill>
              <a:latin typeface="-apple-system"/>
              <a:ea typeface="-apple-system"/>
            </a:endParaRPr>
          </a:p>
        </p:txBody>
      </p:sp>
      <p:pic>
        <p:nvPicPr>
          <p:cNvPr id="9" name="图片 8"/>
          <p:cNvPicPr/>
          <p:nvPr/>
        </p:nvPicPr>
        <p:blipFill>
          <a:blip r:embed="rId2"/>
          <a:stretch>
            <a:fillRect/>
          </a:stretch>
        </p:blipFill>
        <p:spPr>
          <a:xfrm>
            <a:off x="7019925" y="448310"/>
            <a:ext cx="4225925" cy="2980690"/>
          </a:xfrm>
          <a:prstGeom prst="rect">
            <a:avLst/>
          </a:prstGeom>
        </p:spPr>
      </p:pic>
      <p:sp>
        <p:nvSpPr>
          <p:cNvPr id="10" name="文本框 9"/>
          <p:cNvSpPr txBox="1"/>
          <p:nvPr/>
        </p:nvSpPr>
        <p:spPr>
          <a:xfrm>
            <a:off x="6464935" y="3428683"/>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Nature 621, 493, 2023</a:t>
            </a:r>
            <a:endParaRPr lang="en-US" altLang="zh-CN" sz="1600" b="0" i="0">
              <a:solidFill>
                <a:srgbClr val="9196A1"/>
              </a:solidFill>
              <a:latin typeface="-apple-system"/>
              <a:ea typeface="-apple-system"/>
            </a:endParaRPr>
          </a:p>
        </p:txBody>
      </p:sp>
      <p:pic>
        <p:nvPicPr>
          <p:cNvPr id="11" name="图片 10"/>
          <p:cNvPicPr/>
          <p:nvPr/>
        </p:nvPicPr>
        <p:blipFill>
          <a:blip r:embed="rId3"/>
          <a:stretch>
            <a:fillRect/>
          </a:stretch>
        </p:blipFill>
        <p:spPr>
          <a:xfrm>
            <a:off x="6824345" y="3688080"/>
            <a:ext cx="4681220" cy="2247900"/>
          </a:xfrm>
          <a:prstGeom prst="rect">
            <a:avLst/>
          </a:prstGeom>
        </p:spPr>
      </p:pic>
      <p:sp>
        <p:nvSpPr>
          <p:cNvPr id="12" name="文本框 11"/>
          <p:cNvSpPr txBox="1"/>
          <p:nvPr/>
        </p:nvSpPr>
        <p:spPr>
          <a:xfrm>
            <a:off x="6052185" y="5817553"/>
            <a:ext cx="5080000" cy="337185"/>
          </a:xfrm>
          <a:prstGeom prst="rect">
            <a:avLst/>
          </a:prstGeom>
        </p:spPr>
        <p:txBody>
          <a:bodyPr>
            <a:spAutoFit/>
          </a:bodyPr>
          <a:p>
            <a:pPr marL="0" indent="0" algn="ctr"/>
            <a:r>
              <a:rPr lang="en-US" altLang="zh-CN" sz="1600" b="0" i="0">
                <a:solidFill>
                  <a:srgbClr val="9196A1"/>
                </a:solidFill>
                <a:latin typeface="-apple-system"/>
                <a:ea typeface="-apple-system"/>
              </a:rPr>
              <a:t>arXiv:2404.11369</a:t>
            </a:r>
            <a:r>
              <a:rPr lang="zh-CN" altLang="en-US" sz="1600" b="0" i="0">
                <a:solidFill>
                  <a:srgbClr val="9196A1"/>
                </a:solidFill>
                <a:latin typeface="-apple-system"/>
                <a:ea typeface="-apple-system"/>
              </a:rPr>
              <a:t>；</a:t>
            </a:r>
            <a:r>
              <a:rPr lang="en-US" altLang="zh-CN" sz="1600" b="0" i="0">
                <a:solidFill>
                  <a:srgbClr val="9196A1"/>
                </a:solidFill>
                <a:latin typeface="-apple-system"/>
                <a:ea typeface="-apple-system"/>
              </a:rPr>
              <a:t>Nature 621, 493, 2023</a:t>
            </a:r>
            <a:endParaRPr lang="en-US" altLang="zh-CN" sz="1600" b="0" i="0">
              <a:solidFill>
                <a:srgbClr val="9196A1"/>
              </a:solidFill>
              <a:latin typeface="-apple-system"/>
              <a:ea typeface="-apple-syste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1600" y="129540"/>
            <a:ext cx="6918325" cy="645160"/>
          </a:xfrm>
          <a:prstGeom prst="rect">
            <a:avLst/>
          </a:prstGeom>
        </p:spPr>
        <p:txBody>
          <a:bodyPr wrap="square">
            <a:spAutoFit/>
          </a:bodyPr>
          <a:p>
            <a:pPr marL="0" indent="0">
              <a:spcBef>
                <a:spcPts val="1800"/>
              </a:spcBef>
              <a:spcAft>
                <a:spcPts val="1800"/>
              </a:spcAft>
            </a:pPr>
            <a:r>
              <a:rPr lang="en-US" altLang="zh-CN" sz="3600" b="1" i="0">
                <a:solidFill>
                  <a:srgbClr val="191B1F"/>
                </a:solidFill>
                <a:latin typeface="-apple-system"/>
                <a:ea typeface="-apple-system"/>
              </a:rPr>
              <a:t>La3Ni2O7</a:t>
            </a:r>
            <a:r>
              <a:rPr lang="zh-CN" altLang="en-US" sz="3600" b="1" i="0">
                <a:solidFill>
                  <a:srgbClr val="191B1F"/>
                </a:solidFill>
                <a:latin typeface="-apple-system"/>
                <a:ea typeface="-apple-system"/>
              </a:rPr>
              <a:t>的电子结构</a:t>
            </a:r>
            <a:endParaRPr lang="zh-CN" altLang="en-US" sz="3600" b="1" i="0">
              <a:solidFill>
                <a:srgbClr val="191B1F"/>
              </a:solidFill>
              <a:latin typeface="-apple-system"/>
              <a:ea typeface="-apple-system"/>
            </a:endParaRPr>
          </a:p>
        </p:txBody>
      </p:sp>
      <p:pic>
        <p:nvPicPr>
          <p:cNvPr id="5" name="图片 4"/>
          <p:cNvPicPr/>
          <p:nvPr/>
        </p:nvPicPr>
        <p:blipFill>
          <a:blip r:embed="rId1"/>
          <a:srcRect l="59285"/>
          <a:stretch>
            <a:fillRect/>
          </a:stretch>
        </p:blipFill>
        <p:spPr>
          <a:xfrm>
            <a:off x="544830" y="929640"/>
            <a:ext cx="3733165" cy="5020945"/>
          </a:xfrm>
          <a:prstGeom prst="rect">
            <a:avLst/>
          </a:prstGeom>
        </p:spPr>
      </p:pic>
      <p:pic>
        <p:nvPicPr>
          <p:cNvPr id="6" name="图片 5"/>
          <p:cNvPicPr/>
          <p:nvPr/>
        </p:nvPicPr>
        <p:blipFill>
          <a:blip r:embed="rId2"/>
          <a:stretch>
            <a:fillRect/>
          </a:stretch>
        </p:blipFill>
        <p:spPr>
          <a:xfrm>
            <a:off x="5193030" y="774700"/>
            <a:ext cx="4993005" cy="2778760"/>
          </a:xfrm>
          <a:prstGeom prst="rect">
            <a:avLst/>
          </a:prstGeom>
        </p:spPr>
      </p:pic>
      <p:sp>
        <p:nvSpPr>
          <p:cNvPr id="7" name="文本框 6"/>
          <p:cNvSpPr txBox="1"/>
          <p:nvPr/>
        </p:nvSpPr>
        <p:spPr>
          <a:xfrm>
            <a:off x="544830" y="5950268"/>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 Commun. 15, 4373, 2024</a:t>
            </a:r>
            <a:endParaRPr lang="en-US" altLang="zh-CN" sz="1600" b="0" i="0">
              <a:solidFill>
                <a:srgbClr val="9196A1"/>
              </a:solidFill>
              <a:latin typeface="-apple-system"/>
              <a:ea typeface="-apple-system"/>
            </a:endParaRPr>
          </a:p>
        </p:txBody>
      </p:sp>
      <p:sp>
        <p:nvSpPr>
          <p:cNvPr id="8" name="文本框 7"/>
          <p:cNvSpPr txBox="1"/>
          <p:nvPr/>
        </p:nvSpPr>
        <p:spPr>
          <a:xfrm>
            <a:off x="5484495" y="283528"/>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 Commun. 15, 4373, 2024</a:t>
            </a:r>
            <a:endParaRPr lang="en-US" altLang="zh-CN" sz="1600" b="0" i="0">
              <a:solidFill>
                <a:srgbClr val="9196A1"/>
              </a:solidFill>
              <a:latin typeface="-apple-system"/>
              <a:ea typeface="-apple-system"/>
            </a:endParaRPr>
          </a:p>
        </p:txBody>
      </p:sp>
      <p:sp>
        <p:nvSpPr>
          <p:cNvPr id="9" name="文本框 8"/>
          <p:cNvSpPr txBox="1"/>
          <p:nvPr/>
        </p:nvSpPr>
        <p:spPr>
          <a:xfrm>
            <a:off x="3644265" y="3785235"/>
            <a:ext cx="1456690" cy="368300"/>
          </a:xfrm>
          <a:prstGeom prst="rect">
            <a:avLst/>
          </a:prstGeom>
          <a:noFill/>
        </p:spPr>
        <p:txBody>
          <a:bodyPr wrap="square" rtlCol="0">
            <a:spAutoFit/>
          </a:bodyPr>
          <a:p>
            <a:r>
              <a:rPr lang="zh-CN" altLang="en-US">
                <a:solidFill>
                  <a:srgbClr val="FF0000"/>
                </a:solidFill>
              </a:rPr>
              <a:t>考虑</a:t>
            </a:r>
            <a:r>
              <a:rPr lang="en-US" altLang="zh-CN">
                <a:solidFill>
                  <a:srgbClr val="FF0000"/>
                </a:solidFill>
              </a:rPr>
              <a:t>on-site</a:t>
            </a:r>
            <a:endParaRPr lang="en-US" altLang="zh-CN">
              <a:solidFill>
                <a:srgbClr val="FF0000"/>
              </a:solidFill>
            </a:endParaRPr>
          </a:p>
        </p:txBody>
      </p:sp>
      <p:pic>
        <p:nvPicPr>
          <p:cNvPr id="10" name="图片 9"/>
          <p:cNvPicPr/>
          <p:nvPr/>
        </p:nvPicPr>
        <p:blipFill>
          <a:blip r:embed="rId3"/>
          <a:stretch>
            <a:fillRect/>
          </a:stretch>
        </p:blipFill>
        <p:spPr>
          <a:xfrm>
            <a:off x="4824730" y="3553460"/>
            <a:ext cx="6454140" cy="2694940"/>
          </a:xfrm>
          <a:prstGeom prst="rect">
            <a:avLst/>
          </a:prstGeom>
        </p:spPr>
      </p:pic>
      <p:sp>
        <p:nvSpPr>
          <p:cNvPr id="11" name="文本框 10"/>
          <p:cNvSpPr txBox="1"/>
          <p:nvPr/>
        </p:nvSpPr>
        <p:spPr>
          <a:xfrm>
            <a:off x="5193030" y="6083618"/>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 Commun. 15, 4373, 2024</a:t>
            </a:r>
            <a:endParaRPr lang="en-US" altLang="zh-CN" sz="1600" b="0" i="0">
              <a:solidFill>
                <a:srgbClr val="9196A1"/>
              </a:solidFill>
              <a:latin typeface="-apple-system"/>
              <a:ea typeface="-apple-system"/>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1600" y="129540"/>
            <a:ext cx="6918325" cy="645160"/>
          </a:xfrm>
          <a:prstGeom prst="rect">
            <a:avLst/>
          </a:prstGeom>
        </p:spPr>
        <p:txBody>
          <a:bodyPr wrap="square">
            <a:spAutoFit/>
          </a:bodyPr>
          <a:p>
            <a:pPr marL="0" indent="0">
              <a:spcBef>
                <a:spcPts val="1800"/>
              </a:spcBef>
              <a:spcAft>
                <a:spcPts val="1800"/>
              </a:spcAft>
            </a:pPr>
            <a:r>
              <a:rPr lang="en-US" altLang="zh-CN" sz="3600" b="1" i="0">
                <a:solidFill>
                  <a:srgbClr val="191B1F"/>
                </a:solidFill>
                <a:latin typeface="-apple-system"/>
                <a:ea typeface="-apple-system"/>
              </a:rPr>
              <a:t>La3Ni2O7</a:t>
            </a:r>
            <a:r>
              <a:rPr lang="zh-CN" altLang="en-US" sz="3600" b="1" i="0">
                <a:solidFill>
                  <a:srgbClr val="191B1F"/>
                </a:solidFill>
                <a:latin typeface="-apple-system"/>
                <a:ea typeface="-apple-system"/>
              </a:rPr>
              <a:t>的电子结构</a:t>
            </a:r>
            <a:endParaRPr lang="zh-CN" altLang="en-US" sz="3600" b="1" i="0">
              <a:solidFill>
                <a:srgbClr val="191B1F"/>
              </a:solidFill>
              <a:latin typeface="-apple-system"/>
              <a:ea typeface="-apple-system"/>
            </a:endParaRPr>
          </a:p>
        </p:txBody>
      </p:sp>
      <p:pic>
        <p:nvPicPr>
          <p:cNvPr id="5" name="图片 4"/>
          <p:cNvPicPr/>
          <p:nvPr/>
        </p:nvPicPr>
        <p:blipFill>
          <a:blip r:embed="rId1"/>
          <a:stretch>
            <a:fillRect/>
          </a:stretch>
        </p:blipFill>
        <p:spPr>
          <a:xfrm>
            <a:off x="5958840" y="240030"/>
            <a:ext cx="5246370" cy="6378575"/>
          </a:xfrm>
          <a:prstGeom prst="rect">
            <a:avLst/>
          </a:prstGeom>
        </p:spPr>
      </p:pic>
      <p:sp>
        <p:nvSpPr>
          <p:cNvPr id="6" name="文本框 5"/>
          <p:cNvSpPr txBox="1"/>
          <p:nvPr/>
        </p:nvSpPr>
        <p:spPr>
          <a:xfrm>
            <a:off x="563880" y="1999297"/>
            <a:ext cx="5080000" cy="3046095"/>
          </a:xfrm>
          <a:prstGeom prst="rect">
            <a:avLst/>
          </a:prstGeom>
        </p:spPr>
        <p:txBody>
          <a:bodyPr>
            <a:spAutoFit/>
          </a:bodyPr>
          <a:p>
            <a:pPr marL="0" indent="0"/>
            <a:r>
              <a:rPr lang="zh-CN" altLang="en-US" sz="2400" b="0" i="0">
                <a:solidFill>
                  <a:srgbClr val="191B1F"/>
                </a:solidFill>
                <a:latin typeface="-apple-system"/>
                <a:ea typeface="-apple-system"/>
              </a:rPr>
              <a:t>有不少实验表明，</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La3Ni2O7</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在</a:t>
            </a:r>
            <a:r>
              <a:rPr lang="en-US" altLang="zh-CN" sz="2400" b="0" i="0">
                <a:solidFill>
                  <a:srgbClr val="191B1F"/>
                </a:solidFill>
                <a:latin typeface="-apple-system"/>
                <a:ea typeface="-apple-system"/>
              </a:rPr>
              <a:t>110K</a:t>
            </a:r>
            <a:r>
              <a:rPr lang="zh-CN" altLang="en-US" sz="2400" b="0" i="0">
                <a:solidFill>
                  <a:srgbClr val="191B1F"/>
                </a:solidFill>
                <a:latin typeface="-apple-system"/>
                <a:ea typeface="-apple-system"/>
              </a:rPr>
              <a:t>以及</a:t>
            </a:r>
            <a:r>
              <a:rPr lang="en-US" altLang="zh-CN" sz="2400" b="0" i="0">
                <a:solidFill>
                  <a:srgbClr val="191B1F"/>
                </a:solidFill>
                <a:latin typeface="-apple-system"/>
                <a:ea typeface="-apple-system"/>
              </a:rPr>
              <a:t>150K</a:t>
            </a:r>
            <a:r>
              <a:rPr lang="zh-CN" altLang="en-US" sz="2400" b="0" i="0">
                <a:solidFill>
                  <a:srgbClr val="191B1F"/>
                </a:solidFill>
                <a:latin typeface="-apple-system"/>
                <a:ea typeface="-apple-system"/>
              </a:rPr>
              <a:t>附近存在</a:t>
            </a:r>
            <a:r>
              <a:rPr lang="en-US" altLang="zh-CN" sz="2400" b="0" i="0">
                <a:solidFill>
                  <a:srgbClr val="191B1F"/>
                </a:solidFill>
                <a:latin typeface="-apple-system"/>
                <a:ea typeface="-apple-system"/>
              </a:rPr>
              <a:t>density wave</a:t>
            </a:r>
            <a:r>
              <a:rPr lang="zh-CN" altLang="en-US" sz="2400" b="0" i="0">
                <a:solidFill>
                  <a:srgbClr val="191B1F"/>
                </a:solidFill>
                <a:latin typeface="-apple-system"/>
                <a:ea typeface="-apple-system"/>
              </a:rPr>
              <a:t>的相变。一般而言，这些相变有可能会使费米面重构。但是变温的</a:t>
            </a:r>
            <a:r>
              <a:rPr lang="en-US" altLang="zh-CN" sz="2400" b="0" i="0">
                <a:solidFill>
                  <a:srgbClr val="191B1F"/>
                </a:solidFill>
                <a:latin typeface="-apple-system"/>
                <a:ea typeface="-apple-system"/>
              </a:rPr>
              <a:t>ARPES</a:t>
            </a:r>
            <a:r>
              <a:rPr lang="zh-CN" altLang="en-US" sz="2400" b="0" i="0">
                <a:solidFill>
                  <a:srgbClr val="191B1F"/>
                </a:solidFill>
                <a:latin typeface="-apple-system"/>
                <a:ea typeface="-apple-system"/>
              </a:rPr>
              <a:t>结果显示，从</a:t>
            </a:r>
            <a:r>
              <a:rPr lang="en-US" altLang="zh-CN" sz="2400" b="0" i="0">
                <a:solidFill>
                  <a:srgbClr val="191B1F"/>
                </a:solidFill>
                <a:latin typeface="-apple-system"/>
                <a:ea typeface="-apple-system"/>
              </a:rPr>
              <a:t>18K</a:t>
            </a:r>
            <a:r>
              <a:rPr lang="zh-CN" altLang="en-US" sz="2400" b="0" i="0">
                <a:solidFill>
                  <a:srgbClr val="191B1F"/>
                </a:solidFill>
                <a:latin typeface="-apple-system"/>
                <a:ea typeface="-apple-system"/>
              </a:rPr>
              <a:t>到</a:t>
            </a:r>
            <a:r>
              <a:rPr lang="en-US" altLang="zh-CN" sz="2400" b="0" i="0">
                <a:solidFill>
                  <a:srgbClr val="191B1F"/>
                </a:solidFill>
                <a:latin typeface="-apple-system"/>
                <a:ea typeface="-apple-system"/>
              </a:rPr>
              <a:t>163K</a:t>
            </a:r>
            <a:r>
              <a:rPr lang="zh-CN" altLang="en-US" sz="2400" b="0" i="0">
                <a:solidFill>
                  <a:srgbClr val="191B1F"/>
                </a:solidFill>
                <a:latin typeface="-apple-system"/>
                <a:ea typeface="-apple-system"/>
              </a:rPr>
              <a:t>，能带并没有发生明显的变化（图四）。这说明</a:t>
            </a:r>
            <a:r>
              <a:rPr lang="en-US" altLang="zh-CN" sz="2400" b="0" i="0">
                <a:solidFill>
                  <a:srgbClr val="191B1F"/>
                </a:solidFill>
                <a:latin typeface="-apple-system"/>
                <a:ea typeface="-apple-system"/>
              </a:rPr>
              <a:t>density wave</a:t>
            </a:r>
            <a:r>
              <a:rPr lang="zh-CN" altLang="en-US" sz="2400" b="0" i="0">
                <a:solidFill>
                  <a:srgbClr val="191B1F"/>
                </a:solidFill>
                <a:latin typeface="-apple-system"/>
                <a:ea typeface="-apple-system"/>
              </a:rPr>
              <a:t>的相变并没有在费米面附近打开能隙。</a:t>
            </a:r>
            <a:endParaRPr lang="zh-CN" altLang="en-US" sz="2400" b="0" i="0">
              <a:solidFill>
                <a:srgbClr val="191B1F"/>
              </a:solidFill>
              <a:latin typeface="-apple-system"/>
              <a:ea typeface="-apple-system"/>
            </a:endParaRPr>
          </a:p>
        </p:txBody>
      </p:sp>
      <p:sp>
        <p:nvSpPr>
          <p:cNvPr id="7" name="文本框 6"/>
          <p:cNvSpPr txBox="1"/>
          <p:nvPr/>
        </p:nvSpPr>
        <p:spPr>
          <a:xfrm>
            <a:off x="493395" y="5481003"/>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 Commun. 15, 4373, 2024</a:t>
            </a:r>
            <a:endParaRPr lang="en-US" altLang="zh-CN" sz="1600" b="0" i="0">
              <a:solidFill>
                <a:srgbClr val="9196A1"/>
              </a:solidFill>
              <a:latin typeface="-apple-system"/>
              <a:ea typeface="-apple-syste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tretch>
            <a:fillRect/>
          </a:stretch>
        </p:blipFill>
        <p:spPr>
          <a:xfrm>
            <a:off x="756920" y="1061085"/>
            <a:ext cx="10260965" cy="4144645"/>
          </a:xfrm>
          <a:prstGeom prst="rect">
            <a:avLst/>
          </a:prstGeom>
        </p:spPr>
      </p:pic>
      <p:sp>
        <p:nvSpPr>
          <p:cNvPr id="5" name="文本框 4"/>
          <p:cNvSpPr txBox="1"/>
          <p:nvPr/>
        </p:nvSpPr>
        <p:spPr>
          <a:xfrm>
            <a:off x="3041650" y="5282248"/>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 Commun. 15, 4373, 2024</a:t>
            </a:r>
            <a:endParaRPr lang="en-US" altLang="zh-CN" sz="1600" b="0" i="0">
              <a:solidFill>
                <a:srgbClr val="9196A1"/>
              </a:solidFill>
              <a:latin typeface="-apple-system"/>
              <a:ea typeface="-apple-system"/>
            </a:endParaRPr>
          </a:p>
        </p:txBody>
      </p:sp>
      <p:sp>
        <p:nvSpPr>
          <p:cNvPr id="6" name="文本框 5"/>
          <p:cNvSpPr txBox="1"/>
          <p:nvPr/>
        </p:nvSpPr>
        <p:spPr>
          <a:xfrm>
            <a:off x="1206500" y="5833745"/>
            <a:ext cx="7348220" cy="829945"/>
          </a:xfrm>
          <a:prstGeom prst="rect">
            <a:avLst/>
          </a:prstGeom>
        </p:spPr>
        <p:txBody>
          <a:bodyPr wrap="square">
            <a:spAutoFit/>
          </a:bodyPr>
          <a:p>
            <a:pPr marL="0" indent="0"/>
            <a:r>
              <a:rPr lang="en-US" altLang="zh-CN" sz="2400" b="0" i="0">
                <a:solidFill>
                  <a:srgbClr val="191B1F"/>
                </a:solidFill>
                <a:latin typeface="-apple-system"/>
                <a:ea typeface="-apple-system"/>
              </a:rPr>
              <a:t>DFT</a:t>
            </a:r>
            <a:r>
              <a:rPr lang="zh-CN" altLang="en-US" sz="2400" b="0" i="0">
                <a:solidFill>
                  <a:srgbClr val="191B1F"/>
                </a:solidFill>
                <a:latin typeface="-apple-system"/>
                <a:ea typeface="-apple-system"/>
              </a:rPr>
              <a:t>的能带结构计算表明，与镍的</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3dz2</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相关的</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γ</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能带在高压下会逐渐抬升并穿过费米面。</a:t>
            </a:r>
            <a:endParaRPr lang="zh-CN" altLang="en-US" sz="2400" b="0" i="0">
              <a:solidFill>
                <a:srgbClr val="191B1F"/>
              </a:solidFill>
              <a:latin typeface="-apple-system"/>
              <a:ea typeface="-apple-system"/>
            </a:endParaRPr>
          </a:p>
        </p:txBody>
      </p:sp>
      <p:sp>
        <p:nvSpPr>
          <p:cNvPr id="8" name="文本框 7"/>
          <p:cNvSpPr txBox="1"/>
          <p:nvPr/>
        </p:nvSpPr>
        <p:spPr>
          <a:xfrm>
            <a:off x="101600" y="129540"/>
            <a:ext cx="6918325" cy="645160"/>
          </a:xfrm>
          <a:prstGeom prst="rect">
            <a:avLst/>
          </a:prstGeom>
        </p:spPr>
        <p:txBody>
          <a:bodyPr wrap="square">
            <a:spAutoFit/>
          </a:bodyPr>
          <a:p>
            <a:pPr marL="0" indent="0">
              <a:spcBef>
                <a:spcPts val="1800"/>
              </a:spcBef>
              <a:spcAft>
                <a:spcPts val="1800"/>
              </a:spcAft>
            </a:pPr>
            <a:r>
              <a:rPr lang="en-US" altLang="zh-CN" sz="3600" b="1" i="0">
                <a:solidFill>
                  <a:srgbClr val="191B1F"/>
                </a:solidFill>
                <a:latin typeface="-apple-system"/>
                <a:ea typeface="-apple-system"/>
              </a:rPr>
              <a:t>La3Ni2O7</a:t>
            </a:r>
            <a:r>
              <a:rPr lang="zh-CN" altLang="en-US" sz="3600" b="1" i="0">
                <a:solidFill>
                  <a:srgbClr val="191B1F"/>
                </a:solidFill>
                <a:latin typeface="-apple-system"/>
                <a:ea typeface="-apple-system"/>
              </a:rPr>
              <a:t>的电子结构</a:t>
            </a:r>
            <a:endParaRPr lang="zh-CN" altLang="en-US" sz="3600" b="1" i="0">
              <a:solidFill>
                <a:srgbClr val="191B1F"/>
              </a:solidFill>
              <a:latin typeface="-apple-system"/>
              <a:ea typeface="-apple-syste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101600" y="129540"/>
            <a:ext cx="6918325" cy="645160"/>
          </a:xfrm>
          <a:prstGeom prst="rect">
            <a:avLst/>
          </a:prstGeom>
        </p:spPr>
        <p:txBody>
          <a:bodyPr wrap="square">
            <a:spAutoFit/>
          </a:bodyPr>
          <a:p>
            <a:pPr marL="0" indent="0">
              <a:spcBef>
                <a:spcPts val="1800"/>
              </a:spcBef>
              <a:spcAft>
                <a:spcPts val="1800"/>
              </a:spcAft>
            </a:pPr>
            <a:r>
              <a:rPr lang="zh-CN" altLang="en-US" sz="3600" b="1" i="0">
                <a:solidFill>
                  <a:srgbClr val="191B1F"/>
                </a:solidFill>
                <a:latin typeface="-apple-system"/>
                <a:ea typeface="-apple-system"/>
              </a:rPr>
              <a:t>两个</a:t>
            </a:r>
            <a:r>
              <a:rPr lang="zh-CN" altLang="en-US" sz="3600" b="1" i="0">
                <a:solidFill>
                  <a:srgbClr val="191B1F"/>
                </a:solidFill>
                <a:latin typeface="-apple-system"/>
                <a:ea typeface="-apple-system"/>
              </a:rPr>
              <a:t>问题</a:t>
            </a:r>
            <a:endParaRPr lang="zh-CN" altLang="en-US" sz="3600" b="1" i="0">
              <a:solidFill>
                <a:srgbClr val="191B1F"/>
              </a:solidFill>
              <a:latin typeface="-apple-system"/>
              <a:ea typeface="-apple-system"/>
            </a:endParaRPr>
          </a:p>
        </p:txBody>
      </p:sp>
      <p:sp>
        <p:nvSpPr>
          <p:cNvPr id="4" name="文本框 3"/>
          <p:cNvSpPr txBox="1"/>
          <p:nvPr/>
        </p:nvSpPr>
        <p:spPr>
          <a:xfrm>
            <a:off x="267335" y="774700"/>
            <a:ext cx="11204575" cy="1938020"/>
          </a:xfrm>
          <a:prstGeom prst="rect">
            <a:avLst/>
          </a:prstGeom>
        </p:spPr>
        <p:txBody>
          <a:bodyPr wrap="square">
            <a:spAutoFit/>
          </a:bodyPr>
          <a:p>
            <a:pPr marL="0" indent="0"/>
            <a:r>
              <a:rPr lang="zh-CN" altLang="en-US" sz="2400" b="0" i="0">
                <a:solidFill>
                  <a:srgbClr val="191B1F"/>
                </a:solidFill>
                <a:latin typeface="-apple-system"/>
                <a:ea typeface="-apple-system"/>
              </a:rPr>
              <a:t>尽管</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La3Ni2O7</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在高压下存在高温超导相，但是</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La3Ni2O7</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的样品存在很多问题。首先，</a:t>
            </a:r>
            <a:r>
              <a:rPr lang="zh-CN" altLang="en-US" sz="2400" b="0" i="0">
                <a:solidFill>
                  <a:srgbClr val="09408E"/>
                </a:solidFill>
                <a:latin typeface="-apple-system"/>
                <a:ea typeface="-apple-system"/>
                <a:hlinkClick r:id="rId1"/>
              </a:rPr>
              <a:t>氧空位</a:t>
            </a:r>
            <a:r>
              <a:rPr lang="zh-CN" altLang="en-US" sz="2400" b="0" i="0">
                <a:solidFill>
                  <a:srgbClr val="191B1F"/>
                </a:solidFill>
                <a:latin typeface="-apple-system"/>
                <a:ea typeface="-apple-system"/>
              </a:rPr>
              <a:t>问题会导致样品的氧含量偏离化学计量比，所以人们一般用化学式</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La3Ni2O7−δ</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来标记氧不足的情况。</a:t>
            </a:r>
            <a:endParaRPr lang="zh-CN" altLang="en-US" sz="2400" b="0" i="0">
              <a:solidFill>
                <a:srgbClr val="191B1F"/>
              </a:solidFill>
              <a:latin typeface="-apple-system"/>
              <a:ea typeface="-apple-system"/>
            </a:endParaRPr>
          </a:p>
          <a:p>
            <a:pPr marL="0" indent="0"/>
            <a:r>
              <a:rPr lang="zh-CN" altLang="en-US" sz="2400" b="0" i="0">
                <a:solidFill>
                  <a:srgbClr val="191B1F"/>
                </a:solidFill>
                <a:latin typeface="-apple-system"/>
                <a:ea typeface="-apple-system"/>
              </a:rPr>
              <a:t>氧空位主要存在于两层氧八面体中间的顶角氧位置。而顶角氧对于其高温超导相非常关键。</a:t>
            </a:r>
            <a:endParaRPr lang="zh-CN" altLang="en-US" sz="2400" b="0" i="0">
              <a:solidFill>
                <a:srgbClr val="191B1F"/>
              </a:solidFill>
              <a:latin typeface="-apple-system"/>
              <a:ea typeface="-apple-system"/>
            </a:endParaRPr>
          </a:p>
        </p:txBody>
      </p:sp>
      <p:pic>
        <p:nvPicPr>
          <p:cNvPr id="5" name="图片 4"/>
          <p:cNvPicPr/>
          <p:nvPr/>
        </p:nvPicPr>
        <p:blipFill>
          <a:blip r:embed="rId2"/>
          <a:stretch>
            <a:fillRect/>
          </a:stretch>
        </p:blipFill>
        <p:spPr>
          <a:xfrm>
            <a:off x="314960" y="2712720"/>
            <a:ext cx="6254115" cy="3362960"/>
          </a:xfrm>
          <a:prstGeom prst="rect">
            <a:avLst/>
          </a:prstGeom>
        </p:spPr>
      </p:pic>
      <p:sp>
        <p:nvSpPr>
          <p:cNvPr id="6" name="文本框 5"/>
          <p:cNvSpPr txBox="1"/>
          <p:nvPr/>
        </p:nvSpPr>
        <p:spPr>
          <a:xfrm>
            <a:off x="267335" y="6083618"/>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Nature, 630, 847, 2024</a:t>
            </a:r>
            <a:endParaRPr lang="en-US" altLang="zh-CN" sz="1600" b="0" i="0">
              <a:solidFill>
                <a:srgbClr val="9196A1"/>
              </a:solidFill>
              <a:latin typeface="-apple-system"/>
              <a:ea typeface="-apple-system"/>
            </a:endParaRPr>
          </a:p>
        </p:txBody>
      </p:sp>
      <p:sp>
        <p:nvSpPr>
          <p:cNvPr id="7" name="文本框 6"/>
          <p:cNvSpPr txBox="1"/>
          <p:nvPr/>
        </p:nvSpPr>
        <p:spPr>
          <a:xfrm>
            <a:off x="6722110" y="2418080"/>
            <a:ext cx="4572635" cy="2922905"/>
          </a:xfrm>
          <a:prstGeom prst="rect">
            <a:avLst/>
          </a:prstGeom>
        </p:spPr>
        <p:txBody>
          <a:bodyPr>
            <a:noAutofit/>
          </a:bodyPr>
          <a:p>
            <a:pPr marL="0" indent="0"/>
            <a:r>
              <a:rPr lang="zh-CN" altLang="en-US" sz="2400" b="0" i="0">
                <a:solidFill>
                  <a:srgbClr val="191B1F"/>
                </a:solidFill>
                <a:latin typeface="-apple-system"/>
                <a:ea typeface="-apple-system"/>
              </a:rPr>
              <a:t>另一方面，在生长</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La3Ni2O7</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的过程中，其它的</a:t>
            </a:r>
            <a:r>
              <a:rPr lang="en-US" altLang="zh-CN" sz="2400" b="0" i="0">
                <a:solidFill>
                  <a:srgbClr val="191B1F"/>
                </a:solidFill>
                <a:latin typeface="-apple-system"/>
                <a:ea typeface="-apple-system"/>
              </a:rPr>
              <a:t>Ruddlesden–Popper</a:t>
            </a:r>
            <a:r>
              <a:rPr lang="zh-CN" altLang="en-US" sz="2400" b="0" i="0">
                <a:solidFill>
                  <a:srgbClr val="191B1F"/>
                </a:solidFill>
                <a:latin typeface="-apple-system"/>
                <a:ea typeface="-apple-system"/>
              </a:rPr>
              <a:t>相也会出现，比如</a:t>
            </a:r>
            <a:r>
              <a:rPr lang="en-US" altLang="zh-CN" sz="2400" b="0" i="0">
                <a:solidFill>
                  <a:srgbClr val="191B1F"/>
                </a:solidFill>
                <a:latin typeface="-apple-system"/>
                <a:ea typeface="-apple-system"/>
              </a:rPr>
              <a:t>n=1</a:t>
            </a:r>
            <a:r>
              <a:rPr lang="zh-CN" altLang="en-US" sz="2400" b="0" i="0">
                <a:solidFill>
                  <a:srgbClr val="191B1F"/>
                </a:solidFill>
                <a:latin typeface="-apple-system"/>
                <a:ea typeface="-apple-system"/>
              </a:rPr>
              <a:t>的</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La2NiO4</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和</a:t>
            </a:r>
            <a:r>
              <a:rPr lang="en-US" altLang="zh-CN" sz="2400" b="0" i="0">
                <a:solidFill>
                  <a:srgbClr val="191B1F"/>
                </a:solidFill>
                <a:latin typeface="-apple-system"/>
                <a:ea typeface="-apple-system"/>
              </a:rPr>
              <a:t>n=3</a:t>
            </a:r>
            <a:r>
              <a:rPr lang="zh-CN" altLang="en-US" sz="2400" b="0" i="0">
                <a:solidFill>
                  <a:srgbClr val="191B1F"/>
                </a:solidFill>
                <a:latin typeface="-apple-system"/>
                <a:ea typeface="-apple-system"/>
              </a:rPr>
              <a:t>的</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La4Ni3O10</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。这导致</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La3Ni2O7</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样品中存在大量的</a:t>
            </a:r>
            <a:r>
              <a:rPr lang="zh-CN" altLang="en-US" sz="2400" b="0" i="0">
                <a:solidFill>
                  <a:srgbClr val="09408E"/>
                </a:solidFill>
                <a:latin typeface="-apple-system"/>
                <a:ea typeface="-apple-system"/>
                <a:hlinkClick r:id="rId3"/>
              </a:rPr>
              <a:t>堆叠错配</a:t>
            </a:r>
            <a:r>
              <a:rPr lang="zh-CN" altLang="en-US" sz="2400" b="0" i="0">
                <a:solidFill>
                  <a:srgbClr val="191B1F"/>
                </a:solidFill>
                <a:latin typeface="-apple-system"/>
                <a:ea typeface="-apple-system"/>
              </a:rPr>
              <a:t>（</a:t>
            </a:r>
            <a:r>
              <a:rPr lang="en-US" altLang="zh-CN" sz="2400" b="0" i="0">
                <a:solidFill>
                  <a:srgbClr val="191B1F"/>
                </a:solidFill>
                <a:latin typeface="-apple-system"/>
                <a:ea typeface="-apple-system"/>
              </a:rPr>
              <a:t>stacking faults</a:t>
            </a:r>
            <a:r>
              <a:rPr lang="zh-CN" altLang="en-US" sz="2400" b="0" i="0">
                <a:solidFill>
                  <a:srgbClr val="191B1F"/>
                </a:solidFill>
                <a:latin typeface="-apple-system"/>
                <a:ea typeface="-apple-system"/>
              </a:rPr>
              <a:t>）。</a:t>
            </a:r>
            <a:endParaRPr lang="zh-CN" altLang="en-US" sz="2400" b="0" i="0">
              <a:solidFill>
                <a:srgbClr val="191B1F"/>
              </a:solidFill>
              <a:latin typeface="-apple-system"/>
              <a:ea typeface="-apple-system"/>
            </a:endParaRPr>
          </a:p>
        </p:txBody>
      </p:sp>
      <p:sp>
        <p:nvSpPr>
          <p:cNvPr id="9" name="文本框 8"/>
          <p:cNvSpPr txBox="1"/>
          <p:nvPr/>
        </p:nvSpPr>
        <p:spPr>
          <a:xfrm>
            <a:off x="6722110" y="5115877"/>
            <a:ext cx="5080000" cy="829945"/>
          </a:xfrm>
          <a:prstGeom prst="rect">
            <a:avLst/>
          </a:prstGeom>
        </p:spPr>
        <p:txBody>
          <a:bodyPr>
            <a:spAutoFit/>
          </a:bodyPr>
          <a:p>
            <a:pPr marL="0" indent="0"/>
            <a:r>
              <a:rPr lang="zh-CN" altLang="en-US" sz="1600" b="0" i="0">
                <a:solidFill>
                  <a:srgbClr val="191B1F"/>
                </a:solidFill>
                <a:latin typeface="-apple-system"/>
                <a:ea typeface="-apple-system"/>
              </a:rPr>
              <a:t>除此之外，即使是</a:t>
            </a:r>
            <a:r>
              <a:rPr lang="en-US" altLang="zh-CN" sz="1600" b="0" i="0">
                <a:solidFill>
                  <a:srgbClr val="191B1F"/>
                </a:solidFill>
                <a:latin typeface="-apple-system"/>
                <a:ea typeface="-apple-system"/>
              </a:rPr>
              <a:t>n=2</a:t>
            </a:r>
            <a:r>
              <a:rPr lang="zh-CN" altLang="en-US" sz="1600" b="0" i="0">
                <a:solidFill>
                  <a:srgbClr val="191B1F"/>
                </a:solidFill>
                <a:latin typeface="-apple-system"/>
                <a:ea typeface="-apple-system"/>
              </a:rPr>
              <a:t>的情况，除了我们知道的“</a:t>
            </a:r>
            <a:r>
              <a:rPr lang="en-US" altLang="zh-CN" sz="1600" b="0" i="0">
                <a:solidFill>
                  <a:srgbClr val="191B1F"/>
                </a:solidFill>
                <a:latin typeface="-apple-system"/>
                <a:ea typeface="-apple-system"/>
              </a:rPr>
              <a:t>2222”</a:t>
            </a:r>
            <a:r>
              <a:rPr lang="zh-CN" altLang="en-US" sz="1600" b="0" i="0">
                <a:solidFill>
                  <a:srgbClr val="191B1F"/>
                </a:solidFill>
                <a:latin typeface="-apple-system"/>
                <a:ea typeface="-apple-system"/>
              </a:rPr>
              <a:t>相，也存在另外一种“</a:t>
            </a:r>
            <a:r>
              <a:rPr lang="en-US" altLang="zh-CN" sz="1600" b="0" i="0">
                <a:solidFill>
                  <a:srgbClr val="191B1F"/>
                </a:solidFill>
                <a:latin typeface="-apple-system"/>
                <a:ea typeface="-apple-system"/>
              </a:rPr>
              <a:t>1313”</a:t>
            </a:r>
            <a:r>
              <a:rPr lang="zh-CN" altLang="en-US" sz="1600" b="0" i="0">
                <a:solidFill>
                  <a:srgbClr val="191B1F"/>
                </a:solidFill>
                <a:latin typeface="-apple-system"/>
                <a:ea typeface="-apple-system"/>
              </a:rPr>
              <a:t>的相。</a:t>
            </a:r>
            <a:endParaRPr lang="zh-CN" altLang="en-US" sz="1600" b="0" i="0">
              <a:solidFill>
                <a:srgbClr val="191B1F"/>
              </a:solidFill>
              <a:latin typeface="-apple-system"/>
              <a:ea typeface="-apple-system"/>
            </a:endParaRPr>
          </a:p>
          <a:p>
            <a:pPr marL="0" indent="0"/>
            <a:endParaRPr lang="zh-CN" altLang="en-US" sz="1600" b="0" i="0">
              <a:solidFill>
                <a:srgbClr val="191B1F"/>
              </a:solidFill>
              <a:latin typeface="-apple-system"/>
              <a:ea typeface="-apple-syste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101600" y="129540"/>
            <a:ext cx="6918325" cy="645160"/>
          </a:xfrm>
          <a:prstGeom prst="rect">
            <a:avLst/>
          </a:prstGeom>
        </p:spPr>
        <p:txBody>
          <a:bodyPr wrap="square">
            <a:spAutoFit/>
          </a:bodyPr>
          <a:p>
            <a:pPr marL="0" indent="0">
              <a:spcBef>
                <a:spcPts val="1800"/>
              </a:spcBef>
              <a:spcAft>
                <a:spcPts val="1800"/>
              </a:spcAft>
            </a:pPr>
            <a:r>
              <a:rPr lang="en-US" altLang="zh-CN" sz="3600" b="1" i="0">
                <a:solidFill>
                  <a:srgbClr val="191B1F"/>
                </a:solidFill>
                <a:latin typeface="-apple-system"/>
                <a:ea typeface="-apple-system"/>
              </a:rPr>
              <a:t>La2PrNi2O7</a:t>
            </a:r>
            <a:endParaRPr lang="en-US" altLang="zh-CN" sz="3600" b="1" i="0">
              <a:solidFill>
                <a:srgbClr val="191B1F"/>
              </a:solidFill>
              <a:latin typeface="-apple-system"/>
              <a:ea typeface="-apple-system"/>
            </a:endParaRPr>
          </a:p>
        </p:txBody>
      </p:sp>
      <p:sp>
        <p:nvSpPr>
          <p:cNvPr id="4" name="文本框 3"/>
          <p:cNvSpPr txBox="1"/>
          <p:nvPr/>
        </p:nvSpPr>
        <p:spPr>
          <a:xfrm>
            <a:off x="3295650" y="129540"/>
            <a:ext cx="8208010" cy="829945"/>
          </a:xfrm>
          <a:prstGeom prst="rect">
            <a:avLst/>
          </a:prstGeom>
        </p:spPr>
        <p:txBody>
          <a:bodyPr wrap="square">
            <a:spAutoFit/>
          </a:bodyPr>
          <a:p>
            <a:pPr marL="0" indent="0"/>
            <a:r>
              <a:rPr lang="zh-CN" altLang="en-US" sz="2400" b="0" i="0">
                <a:solidFill>
                  <a:srgbClr val="191B1F"/>
                </a:solidFill>
                <a:latin typeface="-apple-system"/>
                <a:ea typeface="-apple-system"/>
              </a:rPr>
              <a:t>为了能够提高</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La3Ni2O7</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中“</a:t>
            </a:r>
            <a:r>
              <a:rPr lang="en-US" altLang="zh-CN" sz="2400" b="0" i="0">
                <a:solidFill>
                  <a:srgbClr val="191B1F"/>
                </a:solidFill>
                <a:latin typeface="-apple-system"/>
                <a:ea typeface="-apple-system"/>
              </a:rPr>
              <a:t>2222”</a:t>
            </a:r>
            <a:r>
              <a:rPr lang="zh-CN" altLang="en-US" sz="2400" b="0" i="0">
                <a:solidFill>
                  <a:srgbClr val="191B1F"/>
                </a:solidFill>
                <a:latin typeface="-apple-system"/>
                <a:ea typeface="-apple-system"/>
              </a:rPr>
              <a:t>相的纯度，研究人员用</a:t>
            </a:r>
            <a:r>
              <a:rPr lang="en-US" altLang="zh-CN" sz="2400" b="0" i="0">
                <a:solidFill>
                  <a:srgbClr val="191B1F"/>
                </a:solidFill>
                <a:latin typeface="-apple-system"/>
                <a:ea typeface="-apple-system"/>
              </a:rPr>
              <a:t>Pr</a:t>
            </a:r>
            <a:r>
              <a:rPr lang="zh-CN" altLang="en-US" sz="2400" b="0" i="0">
                <a:solidFill>
                  <a:srgbClr val="191B1F"/>
                </a:solidFill>
                <a:latin typeface="-apple-system"/>
                <a:ea typeface="-apple-system"/>
              </a:rPr>
              <a:t>原子替代了部分</a:t>
            </a:r>
            <a:r>
              <a:rPr lang="en-US" altLang="zh-CN" sz="2400" b="0" i="0">
                <a:solidFill>
                  <a:srgbClr val="191B1F"/>
                </a:solidFill>
                <a:latin typeface="-apple-system"/>
                <a:ea typeface="-apple-system"/>
              </a:rPr>
              <a:t>La</a:t>
            </a:r>
            <a:r>
              <a:rPr lang="zh-CN" altLang="en-US" sz="2400" b="0" i="0">
                <a:solidFill>
                  <a:srgbClr val="191B1F"/>
                </a:solidFill>
                <a:latin typeface="-apple-system"/>
                <a:ea typeface="-apple-system"/>
              </a:rPr>
              <a:t>原子，合成了</a:t>
            </a:r>
            <a:r>
              <a:rPr lang="en-US" altLang="zh-CN" sz="2400" b="0" i="0">
                <a:solidFill>
                  <a:srgbClr val="191B1F"/>
                </a:solidFill>
                <a:latin typeface="-apple-system"/>
                <a:ea typeface="-apple-system"/>
              </a:rPr>
              <a:t> </a:t>
            </a:r>
            <a:r>
              <a:rPr lang="en-US" altLang="zh-CN" sz="1600" b="0" i="0">
                <a:solidFill>
                  <a:srgbClr val="191B1F"/>
                </a:solidFill>
                <a:latin typeface="-apple-system"/>
                <a:ea typeface="-apple-system"/>
              </a:rPr>
              <a:t>La2PrNi2O7</a:t>
            </a:r>
            <a:r>
              <a:rPr lang="en-US" altLang="zh-CN" sz="2400" b="0" i="0">
                <a:solidFill>
                  <a:srgbClr val="191B1F"/>
                </a:solidFill>
                <a:latin typeface="-apple-system"/>
                <a:ea typeface="-apple-system"/>
              </a:rPr>
              <a:t> </a:t>
            </a:r>
            <a:r>
              <a:rPr lang="zh-CN" altLang="en-US" sz="2400" b="0" i="0">
                <a:solidFill>
                  <a:srgbClr val="191B1F"/>
                </a:solidFill>
                <a:latin typeface="-apple-system"/>
                <a:ea typeface="-apple-system"/>
              </a:rPr>
              <a:t>。</a:t>
            </a:r>
            <a:endParaRPr lang="zh-CN" altLang="en-US" sz="2400" b="0" i="0">
              <a:solidFill>
                <a:srgbClr val="191B1F"/>
              </a:solidFill>
              <a:latin typeface="-apple-system"/>
              <a:ea typeface="-apple-system"/>
            </a:endParaRPr>
          </a:p>
        </p:txBody>
      </p:sp>
      <p:pic>
        <p:nvPicPr>
          <p:cNvPr id="5" name="图片 4"/>
          <p:cNvPicPr>
            <a:picLocks noChangeAspect="1"/>
          </p:cNvPicPr>
          <p:nvPr/>
        </p:nvPicPr>
        <p:blipFill>
          <a:blip r:embed="rId1"/>
          <a:stretch>
            <a:fillRect/>
          </a:stretch>
        </p:blipFill>
        <p:spPr>
          <a:xfrm>
            <a:off x="527685" y="774700"/>
            <a:ext cx="5568315" cy="3604895"/>
          </a:xfrm>
          <a:prstGeom prst="rect">
            <a:avLst/>
          </a:prstGeom>
        </p:spPr>
      </p:pic>
      <p:pic>
        <p:nvPicPr>
          <p:cNvPr id="6" name="图片 5"/>
          <p:cNvPicPr>
            <a:picLocks noChangeAspect="1"/>
          </p:cNvPicPr>
          <p:nvPr/>
        </p:nvPicPr>
        <p:blipFill>
          <a:blip r:embed="rId2"/>
          <a:stretch>
            <a:fillRect/>
          </a:stretch>
        </p:blipFill>
        <p:spPr>
          <a:xfrm>
            <a:off x="6557010" y="1007745"/>
            <a:ext cx="2903855" cy="3241675"/>
          </a:xfrm>
          <a:prstGeom prst="rect">
            <a:avLst/>
          </a:prstGeom>
        </p:spPr>
      </p:pic>
      <p:pic>
        <p:nvPicPr>
          <p:cNvPr id="7" name="图片 6"/>
          <p:cNvPicPr>
            <a:picLocks noChangeAspect="1"/>
          </p:cNvPicPr>
          <p:nvPr/>
        </p:nvPicPr>
        <p:blipFill>
          <a:blip r:embed="rId3"/>
          <a:stretch>
            <a:fillRect/>
          </a:stretch>
        </p:blipFill>
        <p:spPr>
          <a:xfrm>
            <a:off x="669925" y="4249420"/>
            <a:ext cx="5781675" cy="2505075"/>
          </a:xfrm>
          <a:prstGeom prst="rect">
            <a:avLst/>
          </a:prstGeom>
        </p:spPr>
      </p:pic>
      <p:sp>
        <p:nvSpPr>
          <p:cNvPr id="9" name="文本框 8"/>
          <p:cNvSpPr txBox="1"/>
          <p:nvPr/>
        </p:nvSpPr>
        <p:spPr>
          <a:xfrm>
            <a:off x="6308090" y="3848418"/>
            <a:ext cx="5080000" cy="2799715"/>
          </a:xfrm>
          <a:prstGeom prst="rect">
            <a:avLst/>
          </a:prstGeom>
        </p:spPr>
        <p:txBody>
          <a:bodyPr>
            <a:spAutoFit/>
          </a:bodyPr>
          <a:p>
            <a:pPr marL="0" indent="0"/>
            <a:r>
              <a:rPr lang="zh-CN" altLang="en-US" sz="1600" b="0" i="0">
                <a:solidFill>
                  <a:srgbClr val="191B1F"/>
                </a:solidFill>
                <a:latin typeface="-apple-system"/>
                <a:ea typeface="-apple-system"/>
              </a:rPr>
              <a:t>把</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La3Ni2O7</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中</a:t>
            </a:r>
            <a:r>
              <a:rPr lang="en-US" altLang="zh-CN" sz="1600" b="0" i="0">
                <a:solidFill>
                  <a:srgbClr val="191B1F"/>
                </a:solidFill>
                <a:latin typeface="-apple-system"/>
                <a:ea typeface="-apple-system"/>
              </a:rPr>
              <a:t>1/3</a:t>
            </a:r>
            <a:r>
              <a:rPr lang="zh-CN" altLang="en-US" sz="1600" b="0" i="0">
                <a:solidFill>
                  <a:srgbClr val="191B1F"/>
                </a:solidFill>
                <a:latin typeface="-apple-system"/>
                <a:ea typeface="-apple-system"/>
              </a:rPr>
              <a:t>的</a:t>
            </a:r>
            <a:r>
              <a:rPr lang="en-US" altLang="zh-CN" sz="1600" b="0" i="0">
                <a:solidFill>
                  <a:srgbClr val="191B1F"/>
                </a:solidFill>
                <a:latin typeface="-apple-system"/>
                <a:ea typeface="-apple-system"/>
              </a:rPr>
              <a:t>La</a:t>
            </a:r>
            <a:r>
              <a:rPr lang="zh-CN" altLang="en-US" sz="1600" b="0" i="0">
                <a:solidFill>
                  <a:srgbClr val="191B1F"/>
                </a:solidFill>
                <a:latin typeface="-apple-system"/>
                <a:ea typeface="-apple-system"/>
              </a:rPr>
              <a:t>原子换成半径较小的</a:t>
            </a:r>
            <a:r>
              <a:rPr lang="en-US" altLang="zh-CN" sz="1600" b="0" i="0">
                <a:solidFill>
                  <a:srgbClr val="191B1F"/>
                </a:solidFill>
                <a:latin typeface="-apple-system"/>
                <a:ea typeface="-apple-system"/>
              </a:rPr>
              <a:t>Pr</a:t>
            </a:r>
            <a:r>
              <a:rPr lang="zh-CN" altLang="en-US" sz="1600" b="0" i="0">
                <a:solidFill>
                  <a:srgbClr val="191B1F"/>
                </a:solidFill>
                <a:latin typeface="-apple-system"/>
                <a:ea typeface="-apple-system"/>
              </a:rPr>
              <a:t>原子，样品依然能保持</a:t>
            </a:r>
            <a:r>
              <a:rPr lang="en-US" altLang="zh-CN" sz="1600" b="0" i="0">
                <a:solidFill>
                  <a:srgbClr val="09408E"/>
                </a:solidFill>
                <a:latin typeface="-apple-system"/>
                <a:ea typeface="-apple-system"/>
                <a:hlinkClick r:id="rId4"/>
              </a:rPr>
              <a:t>Amam</a:t>
            </a:r>
            <a:r>
              <a:rPr lang="zh-CN" altLang="en-US" sz="1600" b="0" i="0">
                <a:solidFill>
                  <a:srgbClr val="09408E"/>
                </a:solidFill>
                <a:latin typeface="-apple-system"/>
                <a:ea typeface="-apple-system"/>
                <a:hlinkClick r:id="rId4"/>
              </a:rPr>
              <a:t>相</a:t>
            </a:r>
            <a:r>
              <a:rPr lang="zh-CN" altLang="en-US" sz="1600" b="0" i="0">
                <a:solidFill>
                  <a:srgbClr val="191B1F"/>
                </a:solidFill>
                <a:latin typeface="-apple-system"/>
                <a:ea typeface="-apple-system"/>
              </a:rPr>
              <a:t>。核四极矩共振测量发现，“</a:t>
            </a:r>
            <a:r>
              <a:rPr lang="en-US" altLang="zh-CN" sz="1600" b="0" i="0">
                <a:solidFill>
                  <a:srgbClr val="191B1F"/>
                </a:solidFill>
                <a:latin typeface="-apple-system"/>
                <a:ea typeface="-apple-system"/>
              </a:rPr>
              <a:t>4310”</a:t>
            </a:r>
            <a:r>
              <a:rPr lang="zh-CN" altLang="en-US" sz="1600" b="0" i="0">
                <a:solidFill>
                  <a:srgbClr val="191B1F"/>
                </a:solidFill>
                <a:latin typeface="-apple-system"/>
                <a:ea typeface="-apple-system"/>
              </a:rPr>
              <a:t>的共振峰消失了。一般而言，把元素替换成更小的元素产生的化学压强会使晶格收缩，这相当于施加了压缩的物理压强。对于</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La3Ni2O7</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，在施加压缩的物理压强的情况下，</a:t>
            </a:r>
            <a:r>
              <a:rPr lang="en-US" altLang="zh-CN" sz="1600" b="0" i="0">
                <a:solidFill>
                  <a:srgbClr val="191B1F"/>
                </a:solidFill>
                <a:latin typeface="-apple-system"/>
                <a:ea typeface="-apple-system"/>
              </a:rPr>
              <a:t>Amam</a:t>
            </a:r>
            <a:r>
              <a:rPr lang="zh-CN" altLang="en-US" sz="1600" b="0" i="0">
                <a:solidFill>
                  <a:srgbClr val="191B1F"/>
                </a:solidFill>
                <a:latin typeface="-apple-system"/>
                <a:ea typeface="-apple-system"/>
              </a:rPr>
              <a:t>相中两层氧八面体之间的</a:t>
            </a:r>
            <a:r>
              <a:rPr lang="en-US" altLang="zh-CN" sz="1600" b="0" i="0">
                <a:solidFill>
                  <a:srgbClr val="191B1F"/>
                </a:solidFill>
                <a:latin typeface="-apple-system"/>
                <a:ea typeface="-apple-system"/>
              </a:rPr>
              <a:t>Ni-O-Ni</a:t>
            </a:r>
            <a:r>
              <a:rPr lang="zh-CN" altLang="en-US" sz="1600" b="0" i="0">
                <a:solidFill>
                  <a:srgbClr val="191B1F"/>
                </a:solidFill>
                <a:latin typeface="-apple-system"/>
                <a:ea typeface="-apple-system"/>
              </a:rPr>
              <a:t>角度会逐渐增大，最后达到</a:t>
            </a:r>
            <a:r>
              <a:rPr lang="en-US" altLang="zh-CN" sz="1600" b="0" i="0">
                <a:solidFill>
                  <a:srgbClr val="191B1F"/>
                </a:solidFill>
                <a:latin typeface="-apple-system"/>
                <a:ea typeface="-apple-system"/>
              </a:rPr>
              <a:t>180</a:t>
            </a:r>
            <a:r>
              <a:rPr lang="zh-CN" altLang="en-US" sz="1600" b="0" i="0">
                <a:solidFill>
                  <a:srgbClr val="191B1F"/>
                </a:solidFill>
                <a:latin typeface="-apple-system"/>
                <a:ea typeface="-apple-system"/>
              </a:rPr>
              <a:t>度进入</a:t>
            </a:r>
            <a:r>
              <a:rPr lang="en-US" altLang="zh-CN" sz="1600" b="0" i="0">
                <a:solidFill>
                  <a:srgbClr val="09408E"/>
                </a:solidFill>
                <a:latin typeface="-apple-system"/>
                <a:ea typeface="-apple-system"/>
                <a:hlinkClick r:id="rId5"/>
              </a:rPr>
              <a:t>I4/mmm</a:t>
            </a:r>
            <a:r>
              <a:rPr lang="zh-CN" altLang="en-US" sz="1600" b="0" i="0">
                <a:solidFill>
                  <a:srgbClr val="09408E"/>
                </a:solidFill>
                <a:latin typeface="-apple-system"/>
                <a:ea typeface="-apple-system"/>
                <a:hlinkClick r:id="rId5"/>
              </a:rPr>
              <a:t>相</a:t>
            </a:r>
            <a:r>
              <a:rPr lang="zh-CN" altLang="en-US" sz="1600" b="0" i="0">
                <a:solidFill>
                  <a:srgbClr val="191B1F"/>
                </a:solidFill>
                <a:latin typeface="-apple-system"/>
                <a:ea typeface="-apple-system"/>
              </a:rPr>
              <a:t>。然而，</a:t>
            </a:r>
            <a:r>
              <a:rPr lang="en-US" altLang="zh-CN" sz="1600" b="0" i="0">
                <a:solidFill>
                  <a:srgbClr val="191B1F"/>
                </a:solidFill>
                <a:latin typeface="-apple-system"/>
                <a:ea typeface="-apple-system"/>
              </a:rPr>
              <a:t>XRD</a:t>
            </a:r>
            <a:r>
              <a:rPr lang="zh-CN" altLang="en-US" sz="1600" b="0" i="0">
                <a:solidFill>
                  <a:srgbClr val="191B1F"/>
                </a:solidFill>
                <a:latin typeface="-apple-system"/>
                <a:ea typeface="-apple-system"/>
              </a:rPr>
              <a:t>的结果发现，通过把</a:t>
            </a:r>
            <a:r>
              <a:rPr lang="en-US" altLang="zh-CN" sz="1600" b="0" i="0">
                <a:solidFill>
                  <a:srgbClr val="191B1F"/>
                </a:solidFill>
                <a:latin typeface="-apple-system"/>
                <a:ea typeface="-apple-system"/>
              </a:rPr>
              <a:t>La</a:t>
            </a:r>
            <a:r>
              <a:rPr lang="zh-CN" altLang="en-US" sz="1600" b="0" i="0">
                <a:solidFill>
                  <a:srgbClr val="191B1F"/>
                </a:solidFill>
                <a:latin typeface="-apple-system"/>
                <a:ea typeface="-apple-system"/>
              </a:rPr>
              <a:t>替换成较小的</a:t>
            </a:r>
            <a:r>
              <a:rPr lang="en-US" altLang="zh-CN" sz="1600" b="0" i="0">
                <a:solidFill>
                  <a:srgbClr val="191B1F"/>
                </a:solidFill>
                <a:latin typeface="-apple-system"/>
                <a:ea typeface="-apple-system"/>
              </a:rPr>
              <a:t>Pr</a:t>
            </a:r>
            <a:r>
              <a:rPr lang="zh-CN" altLang="en-US" sz="1600" b="0" i="0">
                <a:solidFill>
                  <a:srgbClr val="191B1F"/>
                </a:solidFill>
                <a:latin typeface="-apple-system"/>
                <a:ea typeface="-apple-system"/>
              </a:rPr>
              <a:t>，</a:t>
            </a:r>
            <a:r>
              <a:rPr lang="en-US" altLang="zh-CN" sz="1600" b="0" i="0">
                <a:solidFill>
                  <a:srgbClr val="191B1F"/>
                </a:solidFill>
                <a:latin typeface="-apple-system"/>
                <a:ea typeface="-apple-system"/>
              </a:rPr>
              <a:t>Ni-O-Ni</a:t>
            </a:r>
            <a:r>
              <a:rPr lang="zh-CN" altLang="en-US" sz="1600" b="0" i="0">
                <a:solidFill>
                  <a:srgbClr val="191B1F"/>
                </a:solidFill>
                <a:latin typeface="-apple-system"/>
                <a:ea typeface="-apple-system"/>
              </a:rPr>
              <a:t>角度会减小。但是，如图四所示，通过加压，</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La2PrNi2O7</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在</a:t>
            </a:r>
            <a:r>
              <a:rPr lang="en-US" altLang="zh-CN" sz="1600" b="0" i="0">
                <a:solidFill>
                  <a:srgbClr val="191B1F"/>
                </a:solidFill>
                <a:latin typeface="-apple-system"/>
                <a:ea typeface="-apple-system"/>
              </a:rPr>
              <a:t>11GPa</a:t>
            </a:r>
            <a:r>
              <a:rPr lang="zh-CN" altLang="en-US" sz="1600" b="0" i="0">
                <a:solidFill>
                  <a:srgbClr val="191B1F"/>
                </a:solidFill>
                <a:latin typeface="-apple-system"/>
                <a:ea typeface="-apple-system"/>
              </a:rPr>
              <a:t>附近发生结构相变，从</a:t>
            </a:r>
            <a:r>
              <a:rPr lang="en-US" altLang="zh-CN" sz="1600" b="0" i="0">
                <a:solidFill>
                  <a:srgbClr val="191B1F"/>
                </a:solidFill>
                <a:latin typeface="-apple-system"/>
                <a:ea typeface="-apple-system"/>
              </a:rPr>
              <a:t>Amam</a:t>
            </a:r>
            <a:r>
              <a:rPr lang="zh-CN" altLang="en-US" sz="1600" b="0" i="0">
                <a:solidFill>
                  <a:srgbClr val="191B1F"/>
                </a:solidFill>
                <a:latin typeface="-apple-system"/>
                <a:ea typeface="-apple-system"/>
              </a:rPr>
              <a:t>相进入到</a:t>
            </a:r>
            <a:r>
              <a:rPr lang="en-US" altLang="zh-CN" sz="1600" b="0" i="0">
                <a:solidFill>
                  <a:srgbClr val="191B1F"/>
                </a:solidFill>
                <a:latin typeface="-apple-system"/>
                <a:ea typeface="-apple-system"/>
              </a:rPr>
              <a:t>I4/mmm</a:t>
            </a:r>
            <a:r>
              <a:rPr lang="zh-CN" altLang="en-US" sz="1600" b="0" i="0">
                <a:solidFill>
                  <a:srgbClr val="191B1F"/>
                </a:solidFill>
                <a:latin typeface="-apple-system"/>
                <a:ea typeface="-apple-system"/>
              </a:rPr>
              <a:t>相。</a:t>
            </a:r>
            <a:endParaRPr lang="zh-CN" altLang="en-US" sz="1600" b="0" i="0">
              <a:solidFill>
                <a:srgbClr val="191B1F"/>
              </a:solidFill>
              <a:latin typeface="-apple-system"/>
              <a:ea typeface="-apple-system"/>
            </a:endParaRPr>
          </a:p>
        </p:txBody>
      </p:sp>
      <p:sp>
        <p:nvSpPr>
          <p:cNvPr id="10" name="文本框 9"/>
          <p:cNvSpPr txBox="1"/>
          <p:nvPr/>
        </p:nvSpPr>
        <p:spPr>
          <a:xfrm>
            <a:off x="1016000" y="6416993"/>
            <a:ext cx="5080000" cy="337185"/>
          </a:xfrm>
          <a:prstGeom prst="rect">
            <a:avLst/>
          </a:prstGeom>
        </p:spPr>
        <p:txBody>
          <a:bodyPr>
            <a:spAutoFit/>
          </a:bodyPr>
          <a:p>
            <a:pPr marL="0" indent="0" algn="ctr"/>
            <a:r>
              <a:rPr lang="en-US" altLang="zh-CN" sz="1600" b="0" i="0">
                <a:solidFill>
                  <a:srgbClr val="9196A1"/>
                </a:solidFill>
                <a:latin typeface="-apple-system"/>
                <a:ea typeface="-apple-system"/>
              </a:rPr>
              <a:t>Nature, 634, 579, 2024</a:t>
            </a:r>
            <a:endParaRPr lang="en-US" altLang="zh-CN" sz="1600" b="0" i="0">
              <a:solidFill>
                <a:srgbClr val="9196A1"/>
              </a:solidFill>
              <a:latin typeface="-apple-system"/>
              <a:ea typeface="-apple-system"/>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101600" y="129540"/>
            <a:ext cx="6918325" cy="645160"/>
          </a:xfrm>
          <a:prstGeom prst="rect">
            <a:avLst/>
          </a:prstGeom>
        </p:spPr>
        <p:txBody>
          <a:bodyPr wrap="square">
            <a:spAutoFit/>
          </a:bodyPr>
          <a:p>
            <a:pPr marL="0" indent="0">
              <a:spcBef>
                <a:spcPts val="1800"/>
              </a:spcBef>
              <a:spcAft>
                <a:spcPts val="1800"/>
              </a:spcAft>
            </a:pPr>
            <a:r>
              <a:rPr lang="en-US" altLang="zh-CN" sz="3600" b="1" i="0">
                <a:solidFill>
                  <a:srgbClr val="191B1F"/>
                </a:solidFill>
                <a:latin typeface="-apple-system"/>
                <a:ea typeface="-apple-system"/>
              </a:rPr>
              <a:t>La2PrNi2O7</a:t>
            </a:r>
            <a:r>
              <a:rPr lang="zh-CN" altLang="en-US" sz="3600" b="1" i="0">
                <a:solidFill>
                  <a:srgbClr val="191B1F"/>
                </a:solidFill>
                <a:latin typeface="-apple-system"/>
                <a:ea typeface="-apple-system"/>
              </a:rPr>
              <a:t>的</a:t>
            </a:r>
            <a:r>
              <a:rPr lang="en-US" altLang="zh-CN" sz="3600" b="1" i="0">
                <a:solidFill>
                  <a:srgbClr val="191B1F"/>
                </a:solidFill>
                <a:latin typeface="-apple-system"/>
                <a:ea typeface="-apple-system"/>
              </a:rPr>
              <a:t>bulk SC</a:t>
            </a:r>
            <a:endParaRPr lang="en-US" altLang="zh-CN" sz="3600" b="1" i="0">
              <a:solidFill>
                <a:srgbClr val="191B1F"/>
              </a:solidFill>
              <a:latin typeface="-apple-system"/>
              <a:ea typeface="-apple-system"/>
            </a:endParaRPr>
          </a:p>
        </p:txBody>
      </p:sp>
      <p:sp>
        <p:nvSpPr>
          <p:cNvPr id="4" name="文本框 3"/>
          <p:cNvSpPr txBox="1"/>
          <p:nvPr/>
        </p:nvSpPr>
        <p:spPr>
          <a:xfrm>
            <a:off x="522605" y="920750"/>
            <a:ext cx="10636885" cy="2553335"/>
          </a:xfrm>
          <a:prstGeom prst="rect">
            <a:avLst/>
          </a:prstGeom>
        </p:spPr>
        <p:txBody>
          <a:bodyPr wrap="square">
            <a:spAutoFit/>
          </a:bodyPr>
          <a:p>
            <a:pPr marL="0" indent="0"/>
            <a:r>
              <a:rPr lang="zh-CN" altLang="en-US" sz="1600" b="0" i="0">
                <a:solidFill>
                  <a:srgbClr val="191B1F"/>
                </a:solidFill>
                <a:latin typeface="-apple-system"/>
                <a:ea typeface="-apple-system"/>
              </a:rPr>
              <a:t>实验人员通过磁化率的测量来研究</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La2PrNi2O7</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的超导体积分数（</a:t>
            </a:r>
            <a:r>
              <a:rPr lang="en-US" altLang="zh-CN" sz="1600" b="0" i="0">
                <a:solidFill>
                  <a:srgbClr val="191B1F"/>
                </a:solidFill>
                <a:latin typeface="-apple-system"/>
                <a:ea typeface="-apple-system"/>
              </a:rPr>
              <a:t>superconducting shielding volume fraction</a:t>
            </a:r>
            <a:r>
              <a:rPr lang="zh-CN" altLang="en-US" sz="1600" b="0" i="0">
                <a:solidFill>
                  <a:srgbClr val="191B1F"/>
                </a:solidFill>
                <a:latin typeface="-apple-system"/>
                <a:ea typeface="-apple-system"/>
              </a:rPr>
              <a:t>）。首先，实验人员把</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FeSe</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和铅（</a:t>
            </a:r>
            <a:r>
              <a:rPr lang="en-US" altLang="zh-CN" sz="1600" b="0" i="0">
                <a:solidFill>
                  <a:srgbClr val="191B1F"/>
                </a:solidFill>
                <a:latin typeface="-apple-system"/>
                <a:ea typeface="-apple-system"/>
              </a:rPr>
              <a:t>Pb</a:t>
            </a:r>
            <a:r>
              <a:rPr lang="zh-CN" altLang="en-US" sz="1600" b="0" i="0">
                <a:solidFill>
                  <a:srgbClr val="191B1F"/>
                </a:solidFill>
                <a:latin typeface="-apple-system"/>
                <a:ea typeface="-apple-system"/>
              </a:rPr>
              <a:t>）放在一起，进行磁化率的测量。因为在实际的测量过程中，样品经过超导转变时，感应线圈测到的电压信号数值会下降，这对应于超导的抗磁性行为。然而由于实验过程中感应线圈不是完美包裹样品，这导致我们不能把测到的电压信号下降的数值直接对应到超导体积分数。为了解决这一问题，实验人员利用已知超导体积分数的材料作为参考。我们知道铅作为第一类超导体，超导体积分数为</a:t>
            </a:r>
            <a:r>
              <a:rPr lang="en-US" altLang="zh-CN" sz="1600" b="0" i="0">
                <a:solidFill>
                  <a:srgbClr val="191B1F"/>
                </a:solidFill>
                <a:latin typeface="-apple-system"/>
                <a:ea typeface="-apple-system"/>
              </a:rPr>
              <a:t>100%</a:t>
            </a:r>
            <a:r>
              <a:rPr lang="zh-CN" altLang="en-US" sz="1600" b="0" i="0">
                <a:solidFill>
                  <a:srgbClr val="191B1F"/>
                </a:solidFill>
                <a:latin typeface="-apple-system"/>
                <a:ea typeface="-apple-system"/>
              </a:rPr>
              <a:t>。实验人员首先通过比较</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FeSe</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和铅在超导转变过程中电压信号的变化量以及样品体积大小，估算出</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FeSe</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的超导体积分数。如图六所示，实验结果表明，</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FeSe</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的超导体积分数也是</a:t>
            </a:r>
            <a:r>
              <a:rPr lang="en-US" altLang="zh-CN" sz="1600" b="0" i="0">
                <a:solidFill>
                  <a:srgbClr val="191B1F"/>
                </a:solidFill>
                <a:latin typeface="-apple-system"/>
                <a:ea typeface="-apple-system"/>
              </a:rPr>
              <a:t>100%</a:t>
            </a:r>
            <a:r>
              <a:rPr lang="zh-CN" altLang="en-US" sz="1600" b="0" i="0">
                <a:solidFill>
                  <a:srgbClr val="191B1F"/>
                </a:solidFill>
                <a:latin typeface="-apple-system"/>
                <a:ea typeface="-apple-system"/>
              </a:rPr>
              <a:t>。紧接着，实验人员把</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FeSe</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与</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La2PrNi2O7</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放在一起进行高压测量，用类似的方法得到</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La2PrNi2O7</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的超导体积分数。实验结果显示，在</a:t>
            </a:r>
            <a:r>
              <a:rPr lang="en-US" altLang="zh-CN" sz="1600" b="0" i="0">
                <a:solidFill>
                  <a:srgbClr val="191B1F"/>
                </a:solidFill>
                <a:latin typeface="-apple-system"/>
                <a:ea typeface="-apple-system"/>
              </a:rPr>
              <a:t>15GPa</a:t>
            </a:r>
            <a:r>
              <a:rPr lang="zh-CN" altLang="en-US" sz="1600" b="0" i="0">
                <a:solidFill>
                  <a:srgbClr val="191B1F"/>
                </a:solidFill>
                <a:latin typeface="-apple-system"/>
                <a:ea typeface="-apple-system"/>
              </a:rPr>
              <a:t>的压强下，</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La2PrNi2O7</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的超导体积分数只有</a:t>
            </a:r>
            <a:r>
              <a:rPr lang="en-US" altLang="zh-CN" sz="1600" b="0" i="0">
                <a:solidFill>
                  <a:srgbClr val="191B1F"/>
                </a:solidFill>
                <a:latin typeface="-apple-system"/>
                <a:ea typeface="-apple-system"/>
              </a:rPr>
              <a:t>5.3%</a:t>
            </a:r>
            <a:r>
              <a:rPr lang="zh-CN" altLang="en-US" sz="1600" b="0" i="0">
                <a:solidFill>
                  <a:srgbClr val="191B1F"/>
                </a:solidFill>
                <a:latin typeface="-apple-system"/>
                <a:ea typeface="-apple-system"/>
              </a:rPr>
              <a:t>。当进一步加大压强，在</a:t>
            </a:r>
            <a:r>
              <a:rPr lang="en-US" altLang="zh-CN" sz="1600" b="0" i="0">
                <a:solidFill>
                  <a:srgbClr val="191B1F"/>
                </a:solidFill>
                <a:latin typeface="-apple-system"/>
                <a:ea typeface="-apple-system"/>
              </a:rPr>
              <a:t>19GPa</a:t>
            </a:r>
            <a:r>
              <a:rPr lang="zh-CN" altLang="en-US" sz="1600" b="0" i="0">
                <a:solidFill>
                  <a:srgbClr val="191B1F"/>
                </a:solidFill>
                <a:latin typeface="-apple-system"/>
                <a:ea typeface="-apple-system"/>
              </a:rPr>
              <a:t>的压强下，</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La2PrNi2O7</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的超导体积达到</a:t>
            </a:r>
            <a:r>
              <a:rPr lang="en-US" altLang="zh-CN" sz="1600" b="0" i="0">
                <a:solidFill>
                  <a:srgbClr val="191B1F"/>
                </a:solidFill>
                <a:latin typeface="-apple-system"/>
                <a:ea typeface="-apple-system"/>
              </a:rPr>
              <a:t>97%</a:t>
            </a:r>
            <a:r>
              <a:rPr lang="zh-CN" altLang="en-US" sz="1600" b="0" i="0">
                <a:solidFill>
                  <a:srgbClr val="191B1F"/>
                </a:solidFill>
                <a:latin typeface="-apple-system"/>
                <a:ea typeface="-apple-system"/>
              </a:rPr>
              <a:t>，这说明</a:t>
            </a:r>
            <a:r>
              <a:rPr lang="en-US" altLang="zh-CN" sz="1600" b="0" i="0">
                <a:solidFill>
                  <a:srgbClr val="191B1F"/>
                </a:solidFill>
                <a:latin typeface="-apple-system"/>
                <a:ea typeface="-apple-system"/>
              </a:rPr>
              <a:t> </a:t>
            </a:r>
            <a:r>
              <a:rPr lang="en-US" altLang="zh-CN" sz="1000" b="0" i="0">
                <a:solidFill>
                  <a:srgbClr val="191B1F"/>
                </a:solidFill>
                <a:latin typeface="-apple-system"/>
                <a:ea typeface="-apple-system"/>
              </a:rPr>
              <a:t>La2PrNi2O7</a:t>
            </a:r>
            <a:r>
              <a:rPr lang="en-US" altLang="zh-CN" sz="1600" b="0" i="0">
                <a:solidFill>
                  <a:srgbClr val="191B1F"/>
                </a:solidFill>
                <a:latin typeface="-apple-system"/>
                <a:ea typeface="-apple-system"/>
              </a:rPr>
              <a:t> </a:t>
            </a:r>
            <a:r>
              <a:rPr lang="zh-CN" altLang="en-US" sz="1600" b="0" i="0">
                <a:solidFill>
                  <a:srgbClr val="191B1F"/>
                </a:solidFill>
                <a:latin typeface="-apple-system"/>
                <a:ea typeface="-apple-system"/>
              </a:rPr>
              <a:t>的超导为</a:t>
            </a:r>
            <a:r>
              <a:rPr lang="en-US" altLang="zh-CN" sz="1600" b="0" i="0">
                <a:solidFill>
                  <a:srgbClr val="191B1F"/>
                </a:solidFill>
                <a:latin typeface="-apple-system"/>
                <a:ea typeface="-apple-system"/>
              </a:rPr>
              <a:t>bulk</a:t>
            </a:r>
            <a:r>
              <a:rPr lang="zh-CN" altLang="en-US" sz="1600" b="0" i="0">
                <a:solidFill>
                  <a:srgbClr val="191B1F"/>
                </a:solidFill>
                <a:latin typeface="-apple-system"/>
                <a:ea typeface="-apple-system"/>
              </a:rPr>
              <a:t>超导（图七）。</a:t>
            </a:r>
            <a:endParaRPr lang="zh-CN" altLang="en-US" sz="1600" b="0" i="0">
              <a:solidFill>
                <a:srgbClr val="191B1F"/>
              </a:solidFill>
              <a:latin typeface="-apple-system"/>
              <a:ea typeface="-apple-system"/>
            </a:endParaRPr>
          </a:p>
        </p:txBody>
      </p:sp>
      <p:pic>
        <p:nvPicPr>
          <p:cNvPr id="5" name="图片 4"/>
          <p:cNvPicPr/>
          <p:nvPr/>
        </p:nvPicPr>
        <p:blipFill>
          <a:blip r:embed="rId1"/>
          <a:stretch>
            <a:fillRect/>
          </a:stretch>
        </p:blipFill>
        <p:spPr>
          <a:xfrm>
            <a:off x="1147445" y="3344545"/>
            <a:ext cx="4648835" cy="3328670"/>
          </a:xfrm>
          <a:prstGeom prst="rect">
            <a:avLst/>
          </a:prstGeom>
        </p:spPr>
      </p:pic>
      <p:pic>
        <p:nvPicPr>
          <p:cNvPr id="6" name="图片 5"/>
          <p:cNvPicPr/>
          <p:nvPr/>
        </p:nvPicPr>
        <p:blipFill>
          <a:blip r:embed="rId2"/>
          <a:stretch>
            <a:fillRect/>
          </a:stretch>
        </p:blipFill>
        <p:spPr>
          <a:xfrm>
            <a:off x="5923280" y="3226435"/>
            <a:ext cx="5235575" cy="33451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101600" y="129540"/>
            <a:ext cx="6918325" cy="645160"/>
          </a:xfrm>
          <a:prstGeom prst="rect">
            <a:avLst/>
          </a:prstGeom>
        </p:spPr>
        <p:txBody>
          <a:bodyPr wrap="square">
            <a:spAutoFit/>
          </a:bodyPr>
          <a:p>
            <a:pPr marL="0" indent="0">
              <a:spcBef>
                <a:spcPts val="1800"/>
              </a:spcBef>
              <a:spcAft>
                <a:spcPts val="1800"/>
              </a:spcAft>
            </a:pPr>
            <a:r>
              <a:rPr lang="zh-CN" altLang="en-US" sz="3600" b="1" i="0">
                <a:solidFill>
                  <a:srgbClr val="191B1F"/>
                </a:solidFill>
                <a:latin typeface="-apple-system"/>
                <a:ea typeface="-apple-system"/>
              </a:rPr>
              <a:t>超导体积</a:t>
            </a:r>
            <a:r>
              <a:rPr lang="zh-CN" altLang="en-US" sz="3600" b="1" i="0">
                <a:solidFill>
                  <a:srgbClr val="191B1F"/>
                </a:solidFill>
                <a:latin typeface="-apple-system"/>
                <a:ea typeface="-apple-system"/>
              </a:rPr>
              <a:t>分数</a:t>
            </a:r>
            <a:endParaRPr lang="zh-CN" altLang="en-US" sz="3600" b="1" i="0">
              <a:solidFill>
                <a:srgbClr val="191B1F"/>
              </a:solidFill>
              <a:latin typeface="-apple-system"/>
              <a:ea typeface="-apple-system"/>
            </a:endParaRPr>
          </a:p>
        </p:txBody>
      </p:sp>
      <p:sp>
        <p:nvSpPr>
          <p:cNvPr id="5" name="文本框 4"/>
          <p:cNvSpPr txBox="1"/>
          <p:nvPr/>
        </p:nvSpPr>
        <p:spPr>
          <a:xfrm>
            <a:off x="612775" y="1017905"/>
            <a:ext cx="5080000" cy="910590"/>
          </a:xfrm>
          <a:prstGeom prst="rect">
            <a:avLst/>
          </a:prstGeom>
        </p:spPr>
        <p:txBody>
          <a:bodyPr>
            <a:noAutofit/>
          </a:bodyPr>
          <a:p>
            <a:pPr marL="0" indent="0"/>
            <a:r>
              <a:rPr lang="zh-CN" altLang="en-US" sz="1600" b="0" i="0">
                <a:solidFill>
                  <a:srgbClr val="191B1F"/>
                </a:solidFill>
                <a:latin typeface="-apple-system"/>
                <a:ea typeface="-apple-system"/>
              </a:rPr>
              <a:t>通过磁化率的测量来研究超导体积分数</a:t>
            </a:r>
            <a:endParaRPr lang="zh-CN" altLang="en-US" sz="1600" b="0" i="0">
              <a:solidFill>
                <a:srgbClr val="191B1F"/>
              </a:solidFill>
              <a:latin typeface="-apple-system"/>
              <a:ea typeface="-apple-system"/>
            </a:endParaRPr>
          </a:p>
          <a:p>
            <a:pPr marL="0" indent="0"/>
            <a:r>
              <a:rPr lang="zh-CN" altLang="en-US" sz="1600" b="0" i="0">
                <a:solidFill>
                  <a:srgbClr val="191B1F"/>
                </a:solidFill>
                <a:latin typeface="-apple-system"/>
                <a:ea typeface="-apple-system"/>
              </a:rPr>
              <a:t>因为在实际的测量过程中，样品经过超导转变时，感应线圈测到的电压信号数值会下降，这对应于超导的抗磁性行为。</a:t>
            </a:r>
            <a:endParaRPr lang="zh-CN" altLang="en-US" sz="1600" b="0" i="0">
              <a:solidFill>
                <a:srgbClr val="191B1F"/>
              </a:solidFill>
              <a:latin typeface="-apple-system"/>
              <a:ea typeface="-apple-system"/>
            </a:endParaRPr>
          </a:p>
        </p:txBody>
      </p:sp>
      <p:sp>
        <p:nvSpPr>
          <p:cNvPr id="6" name="文本框 5"/>
          <p:cNvSpPr txBox="1"/>
          <p:nvPr/>
        </p:nvSpPr>
        <p:spPr>
          <a:xfrm>
            <a:off x="5897245" y="129857"/>
            <a:ext cx="5080000" cy="829945"/>
          </a:xfrm>
          <a:prstGeom prst="rect">
            <a:avLst/>
          </a:prstGeom>
        </p:spPr>
        <p:txBody>
          <a:bodyPr>
            <a:spAutoFit/>
          </a:bodyPr>
          <a:p>
            <a:pPr marL="0" indent="0"/>
            <a:r>
              <a:rPr lang="zh-CN" altLang="en-US" sz="1600" b="0" i="0">
                <a:solidFill>
                  <a:srgbClr val="191B1F"/>
                </a:solidFill>
                <a:latin typeface="-apple-system"/>
                <a:ea typeface="-apple-system"/>
              </a:rPr>
              <a:t>然而由于实验过程中感应线圈不是完美包裹样品，这导致我们不能把测到的电压信号下降的数值直接对应到超导体积分数。</a:t>
            </a:r>
            <a:endParaRPr lang="zh-CN" altLang="en-US" sz="1600" b="0" i="0">
              <a:solidFill>
                <a:srgbClr val="191B1F"/>
              </a:solidFill>
              <a:latin typeface="-apple-system"/>
              <a:ea typeface="-apple-system"/>
            </a:endParaRPr>
          </a:p>
        </p:txBody>
      </p:sp>
      <p:sp>
        <p:nvSpPr>
          <p:cNvPr id="7" name="文本框 6"/>
          <p:cNvSpPr txBox="1"/>
          <p:nvPr/>
        </p:nvSpPr>
        <p:spPr>
          <a:xfrm>
            <a:off x="5897245" y="1018222"/>
            <a:ext cx="5080000" cy="1076325"/>
          </a:xfrm>
          <a:prstGeom prst="rect">
            <a:avLst/>
          </a:prstGeom>
        </p:spPr>
        <p:txBody>
          <a:bodyPr>
            <a:spAutoFit/>
          </a:bodyPr>
          <a:p>
            <a:pPr marL="0" indent="0"/>
            <a:r>
              <a:rPr lang="zh-CN" altLang="en-US" sz="1600" b="0" i="0">
                <a:solidFill>
                  <a:srgbClr val="191B1F"/>
                </a:solidFill>
                <a:latin typeface="-apple-system"/>
                <a:ea typeface="-apple-system"/>
              </a:rPr>
              <a:t>铅作为第一类超导体，超导体积分数为</a:t>
            </a:r>
            <a:r>
              <a:rPr lang="en-US" altLang="zh-CN" sz="1600" b="0" i="0">
                <a:solidFill>
                  <a:srgbClr val="191B1F"/>
                </a:solidFill>
                <a:latin typeface="-apple-system"/>
                <a:ea typeface="-apple-system"/>
              </a:rPr>
              <a:t>100%</a:t>
            </a:r>
            <a:r>
              <a:rPr lang="zh-CN" altLang="en-US" sz="1600" b="0" i="0">
                <a:solidFill>
                  <a:srgbClr val="191B1F"/>
                </a:solidFill>
                <a:latin typeface="-apple-system"/>
                <a:ea typeface="-apple-system"/>
              </a:rPr>
              <a:t>。实验人员首先通过比较</a:t>
            </a:r>
            <a:r>
              <a:rPr lang="en-US" altLang="zh-CN" sz="1600" b="0" i="0">
                <a:solidFill>
                  <a:srgbClr val="191B1F"/>
                </a:solidFill>
                <a:latin typeface="-apple-system"/>
                <a:ea typeface="-apple-system"/>
              </a:rPr>
              <a:t>FeSe</a:t>
            </a:r>
            <a:r>
              <a:rPr lang="zh-CN" altLang="en-US" sz="1600" b="0" i="0">
                <a:solidFill>
                  <a:srgbClr val="191B1F"/>
                </a:solidFill>
                <a:latin typeface="-apple-system"/>
                <a:ea typeface="-apple-system"/>
              </a:rPr>
              <a:t>和铅在超导转变过程中电压信号的变化量以及样品体积大小，估算出</a:t>
            </a:r>
            <a:r>
              <a:rPr lang="en-US" altLang="zh-CN" sz="1600" b="0" i="0">
                <a:solidFill>
                  <a:srgbClr val="191B1F"/>
                </a:solidFill>
                <a:latin typeface="-apple-system"/>
                <a:ea typeface="-apple-system"/>
              </a:rPr>
              <a:t>FeSe</a:t>
            </a:r>
            <a:r>
              <a:rPr lang="zh-CN" altLang="en-US" sz="1600" b="0" i="0">
                <a:solidFill>
                  <a:srgbClr val="191B1F"/>
                </a:solidFill>
                <a:latin typeface="-apple-system"/>
                <a:ea typeface="-apple-system"/>
              </a:rPr>
              <a:t>的超导体积分数</a:t>
            </a:r>
            <a:r>
              <a:rPr lang="en-US" altLang="zh-CN" sz="1600" b="0" i="0">
                <a:solidFill>
                  <a:srgbClr val="191B1F"/>
                </a:solidFill>
                <a:latin typeface="-apple-system"/>
                <a:ea typeface="-apple-system"/>
              </a:rPr>
              <a:t>~100% for 9GPa</a:t>
            </a:r>
            <a:r>
              <a:rPr lang="zh-CN" altLang="en-US" sz="1600" b="0" i="0">
                <a:solidFill>
                  <a:srgbClr val="191B1F"/>
                </a:solidFill>
                <a:latin typeface="-apple-system"/>
                <a:ea typeface="-apple-system"/>
              </a:rPr>
              <a:t>。</a:t>
            </a:r>
            <a:endParaRPr lang="zh-CN" altLang="en-US" sz="1600" b="0" i="0">
              <a:solidFill>
                <a:srgbClr val="191B1F"/>
              </a:solidFill>
              <a:latin typeface="-apple-system"/>
              <a:ea typeface="-apple-system"/>
            </a:endParaRPr>
          </a:p>
        </p:txBody>
      </p:sp>
      <p:pic>
        <p:nvPicPr>
          <p:cNvPr id="9" name="图片 8"/>
          <p:cNvPicPr>
            <a:picLocks noChangeAspect="1"/>
          </p:cNvPicPr>
          <p:nvPr/>
        </p:nvPicPr>
        <p:blipFill>
          <a:blip r:embed="rId1"/>
          <a:stretch>
            <a:fillRect/>
          </a:stretch>
        </p:blipFill>
        <p:spPr>
          <a:xfrm>
            <a:off x="748665" y="2261235"/>
            <a:ext cx="4214495" cy="4262120"/>
          </a:xfrm>
          <a:prstGeom prst="rect">
            <a:avLst/>
          </a:prstGeom>
        </p:spPr>
      </p:pic>
      <p:pic>
        <p:nvPicPr>
          <p:cNvPr id="10" name="图片 9"/>
          <p:cNvPicPr>
            <a:picLocks noChangeAspect="1"/>
          </p:cNvPicPr>
          <p:nvPr/>
        </p:nvPicPr>
        <p:blipFill>
          <a:blip r:embed="rId2"/>
          <a:stretch>
            <a:fillRect/>
          </a:stretch>
        </p:blipFill>
        <p:spPr>
          <a:xfrm>
            <a:off x="5843270" y="2261235"/>
            <a:ext cx="2857500" cy="4262755"/>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2867</Words>
  <Application>WPS 演示</Application>
  <PresentationFormat>宽屏</PresentationFormat>
  <Paragraphs>99</Paragraphs>
  <Slides>11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宋体</vt:lpstr>
      <vt:lpstr>Wingdings</vt:lpstr>
      <vt:lpstr>-apple-system</vt:lpstr>
      <vt:lpstr>Segoe Print</vt:lpstr>
      <vt:lpstr>微软雅黑</vt:lpstr>
      <vt:lpstr>Arial Unicode MS</vt:lpstr>
      <vt:lpstr>Calibri</vt:lpstr>
      <vt:lpstr>汉仪君黑-45简</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Felicity Ti</dc:creator>
  <cp:lastModifiedBy>Felicity Ti</cp:lastModifiedBy>
  <cp:revision>27</cp:revision>
  <dcterms:created xsi:type="dcterms:W3CDTF">2023-08-09T12:44:00Z</dcterms:created>
  <dcterms:modified xsi:type="dcterms:W3CDTF">2025-09-17T06:43:32Z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2052-12.1.0.22529</vt:lpwstr>
  </property>
</Properties>
</file>